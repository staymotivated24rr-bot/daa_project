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Dijkstra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12 vertices</c:v>
                </c:pt>
                <c:pt idx="1">
                  <c:v>24 vertices</c:v>
                </c:pt>
                <c:pt idx="2">
                  <c:v>48 vertices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0.017025</c:v>
                </c:pt>
                <c:pt idx="1">
                  <c:v>0.04055</c:v>
                </c:pt>
                <c:pt idx="2">
                  <c:v>0.106208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Floyd-Warshall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12 vertices</c:v>
                </c:pt>
                <c:pt idx="1">
                  <c:v>24 vertices</c:v>
                </c:pt>
                <c:pt idx="2">
                  <c:v>48 vertices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0.299084</c:v>
                </c:pt>
                <c:pt idx="1">
                  <c:v>2.058528</c:v>
                </c:pt>
                <c:pt idx="2">
                  <c:v>14.70461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yourself. All campus data is fictional. No API key or external maps are required.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Correct edge sequence: Main Gate–Academic Block 300; Academic Block–Library 150; Library–Canteen 180; Canteen–Hostel 200. Equal 300-m alternatives exist to Academic Block; strict improvements keep the direct parent.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docs/DEMO_SCRIPT.md for spoken guidance. Source: original campus JSON, implemented algorithms and recorded benchmark 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docs/DEMO_SCRIPT.md for spoken guidance. Source: original campus JSON, implemented algorithms and recorded benchmark 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docs/DEMO_SCRIPT.md for spoken guidance. Source: original campus JSON, implemented algorithms and recorded benchmark 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docs/DEMO_SCRIPT.md for spoken guidance. Source: original campus JSON, implemented algorithms and recorded benchmark 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docs/DEMO_SCRIPT.md for spoken guidance. Source: original campus JSON, implemented algorithms and recorded benchmark 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docs/DEMO_SCRIPT.md for spoken guidance. Source: original campus JSON, implemented algorithms and recorded benchmark 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docs/DEMO_SCRIPT.md for spoken guidance. Source: original campus JSON, implemented algorithms and recorded benchmark 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docs/DEMO_SCRIPT.md for spoken guidance. Source: original campus JSON, implemented algorithms and recorded benchmark 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docs/DEMO_SCRIPT.md for spoken guidance. Source: original campus JSON, implemented algorithms and recorded benchmark 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docs/DEMO_SCRIPT.md for spoken guidance. Source: original campus JSON, implemented algorithms and recorded benchmark 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35D9C0"/>
                </a:solidFill>
                <a:latin typeface="Aptos"/>
              </a:defRPr>
            </a:pPr>
            <a:r>
              <a:t>B.TECH AI &amp; ML / DESIGN AND ANALYSIS OF ALGORITHMS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E9F0FB"/>
                </a:solidFill>
                <a:latin typeface="Aptos"/>
              </a:defRPr>
            </a:pPr>
            <a:r>
              <a:t>Smart Campus Navigator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9224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91A4BC"/>
                </a:solidFill>
                <a:latin typeface="Aptos"/>
              </a:defRPr>
            </a:pPr>
            <a:r>
              <a:t>01AI0506 · Fictional campus · Distances in metres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9224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91A4BC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82880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900" b="0">
                <a:solidFill>
                  <a:srgbClr val="B8CBE4"/>
                </a:solidFill>
                <a:latin typeface="Aptos"/>
              </a:defRPr>
            </a:pPr>
            <a:r>
              <a:t>Interactive graph algorithms.</a:t>
            </a:r>
          </a:p>
          <a:p>
            <a:pPr>
              <a:spcAft>
                <a:spcPts val="1200"/>
              </a:spcAft>
              <a:defRPr sz="2900" b="0">
                <a:solidFill>
                  <a:srgbClr val="B8CBE4"/>
                </a:solidFill>
                <a:latin typeface="Aptos"/>
              </a:defRPr>
            </a:pPr>
            <a:r>
              <a:t>Routes students can explain.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794760"/>
            <a:ext cx="5029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91A4BC"/>
                </a:solidFill>
                <a:latin typeface="Aptos"/>
              </a:defRPr>
            </a:pPr>
            <a:r>
              <a:t>[Student Name]  ·  [Enrollment Number]</a:t>
            </a:r>
          </a:p>
          <a:p>
            <a:pPr>
              <a:spcAft>
                <a:spcPts val="1200"/>
              </a:spcAft>
              <a:defRPr sz="1800" b="0">
                <a:solidFill>
                  <a:srgbClr val="91A4BC"/>
                </a:solidFill>
                <a:latin typeface="Aptos"/>
              </a:defRPr>
            </a:pPr>
            <a:r>
              <a:t>[Guide Name]</a:t>
            </a:r>
          </a:p>
          <a:p>
            <a:pPr>
              <a:spcAft>
                <a:spcPts val="1200"/>
              </a:spcAft>
              <a:defRPr sz="1800" b="0">
                <a:solidFill>
                  <a:srgbClr val="91A4BC"/>
                </a:solidFill>
                <a:latin typeface="Aptos"/>
              </a:defRPr>
            </a:pPr>
            <a:r>
              <a:t>[University / Department]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7035800" y="4860757"/>
            <a:ext cx="888999" cy="125129"/>
          </a:xfrm>
          <a:prstGeom prst="line">
            <a:avLst/>
          </a:prstGeom>
          <a:ln w="16510">
            <a:solidFill>
              <a:srgbClr val="4357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297420" y="481359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BAC9DC"/>
                </a:solidFill>
                <a:latin typeface="Aptos"/>
              </a:defRPr>
            </a:pPr>
            <a:r>
              <a:t>160</a:t>
            </a:r>
          </a:p>
        </p:txBody>
      </p:sp>
      <p:cxnSp>
        <p:nvCxnSpPr>
          <p:cNvPr id="10" name="Connector 9"/>
          <p:cNvCxnSpPr/>
          <p:nvPr/>
        </p:nvCxnSpPr>
        <p:spPr>
          <a:xfrm flipH="1" flipV="1">
            <a:off x="7543800" y="3734602"/>
            <a:ext cx="380999" cy="1126155"/>
          </a:xfrm>
          <a:prstGeom prst="line">
            <a:avLst/>
          </a:prstGeom>
          <a:ln w="16510">
            <a:solidFill>
              <a:srgbClr val="4357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551420" y="4187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BAC9DC"/>
                </a:solidFill>
                <a:latin typeface="Aptos"/>
              </a:defRPr>
            </a:pPr>
            <a:r>
              <a:t>210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924799" y="4860757"/>
            <a:ext cx="889001" cy="500514"/>
          </a:xfrm>
          <a:prstGeom prst="line">
            <a:avLst/>
          </a:prstGeom>
          <a:ln w="16510">
            <a:solidFill>
              <a:srgbClr val="4357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186420" y="5001286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BAC9DC"/>
                </a:solidFill>
                <a:latin typeface="Aptos"/>
              </a:defRPr>
            </a:pPr>
            <a:r>
              <a:t>170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7924799" y="4297680"/>
            <a:ext cx="698501" cy="563077"/>
          </a:xfrm>
          <a:prstGeom prst="line">
            <a:avLst/>
          </a:prstGeom>
          <a:ln w="38100">
            <a:solidFill>
              <a:srgbClr val="35D9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091170" y="446949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BAC9DC"/>
                </a:solidFill>
                <a:latin typeface="Aptos"/>
              </a:defRPr>
            </a:pPr>
            <a:r>
              <a:t>150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6400800" y="4860757"/>
            <a:ext cx="1523999" cy="625643"/>
          </a:xfrm>
          <a:prstGeom prst="line">
            <a:avLst/>
          </a:prstGeom>
          <a:ln w="38100">
            <a:solidFill>
              <a:srgbClr val="35D9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979920" y="506385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BAC9DC"/>
                </a:solidFill>
                <a:latin typeface="Aptos"/>
              </a:defRPr>
            </a:pPr>
            <a:r>
              <a:t>300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7035800" y="3734602"/>
            <a:ext cx="508000" cy="1251284"/>
          </a:xfrm>
          <a:prstGeom prst="line">
            <a:avLst/>
          </a:prstGeom>
          <a:ln w="16510">
            <a:solidFill>
              <a:srgbClr val="4357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106920" y="4250516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BAC9DC"/>
                </a:solidFill>
                <a:latin typeface="Aptos"/>
              </a:defRPr>
            </a:pPr>
            <a:r>
              <a:t>240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6400800" y="4985886"/>
            <a:ext cx="635000" cy="500514"/>
          </a:xfrm>
          <a:prstGeom prst="line">
            <a:avLst/>
          </a:prstGeom>
          <a:ln w="16510">
            <a:solidFill>
              <a:srgbClr val="4357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535420" y="5126415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BAC9DC"/>
                </a:solidFill>
                <a:latin typeface="Aptos"/>
              </a:defRPr>
            </a:pPr>
            <a:r>
              <a:t>140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7543800" y="3296652"/>
            <a:ext cx="1397000" cy="437950"/>
          </a:xfrm>
          <a:prstGeom prst="line">
            <a:avLst/>
          </a:prstGeom>
          <a:ln w="16510">
            <a:solidFill>
              <a:srgbClr val="4357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059420" y="3405899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BAC9DC"/>
                </a:solidFill>
                <a:latin typeface="Aptos"/>
              </a:defRPr>
            </a:pPr>
            <a:r>
              <a:t>260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7543800" y="2545882"/>
            <a:ext cx="0" cy="1188720"/>
          </a:xfrm>
          <a:prstGeom prst="line">
            <a:avLst/>
          </a:prstGeom>
          <a:ln w="16510">
            <a:solidFill>
              <a:srgbClr val="4357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360920" y="303051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BAC9DC"/>
                </a:solidFill>
                <a:latin typeface="Aptos"/>
              </a:defRPr>
            </a:pPr>
            <a:r>
              <a:t>210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8940800" y="3046395"/>
            <a:ext cx="1143000" cy="250257"/>
          </a:xfrm>
          <a:prstGeom prst="line">
            <a:avLst/>
          </a:prstGeom>
          <a:ln w="38100">
            <a:solidFill>
              <a:srgbClr val="35D9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329420" y="3061796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BAC9DC"/>
                </a:solidFill>
                <a:latin typeface="Aptos"/>
              </a:defRPr>
            </a:pPr>
            <a:r>
              <a:t>200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8623300" y="3296652"/>
            <a:ext cx="317500" cy="1001028"/>
          </a:xfrm>
          <a:prstGeom prst="line">
            <a:avLst/>
          </a:prstGeom>
          <a:ln w="38100">
            <a:solidFill>
              <a:srgbClr val="35D9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599170" y="368743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BAC9DC"/>
                </a:solidFill>
                <a:latin typeface="Aptos"/>
              </a:defRPr>
            </a:pPr>
            <a:r>
              <a:t>180</a:t>
            </a:r>
          </a:p>
        </p:txBody>
      </p:sp>
      <p:cxnSp>
        <p:nvCxnSpPr>
          <p:cNvPr id="30" name="Connector 29"/>
          <p:cNvCxnSpPr/>
          <p:nvPr/>
        </p:nvCxnSpPr>
        <p:spPr>
          <a:xfrm flipH="1" flipV="1">
            <a:off x="7543800" y="2545882"/>
            <a:ext cx="1397000" cy="750770"/>
          </a:xfrm>
          <a:prstGeom prst="line">
            <a:avLst/>
          </a:prstGeom>
          <a:ln w="16510">
            <a:solidFill>
              <a:srgbClr val="4357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059420" y="2811539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BAC9DC"/>
                </a:solidFill>
                <a:latin typeface="Aptos"/>
              </a:defRPr>
            </a:pPr>
            <a:r>
              <a:t>270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0083800" y="3046395"/>
            <a:ext cx="190500" cy="1501541"/>
          </a:xfrm>
          <a:prstGeom prst="line">
            <a:avLst/>
          </a:prstGeom>
          <a:ln w="16510">
            <a:solidFill>
              <a:srgbClr val="4357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9996170" y="368743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BAC9DC"/>
                </a:solidFill>
                <a:latin typeface="Aptos"/>
              </a:defRPr>
            </a:pPr>
            <a:r>
              <a:t>270</a:t>
            </a:r>
          </a:p>
        </p:txBody>
      </p:sp>
      <p:cxnSp>
        <p:nvCxnSpPr>
          <p:cNvPr id="34" name="Connector 33"/>
          <p:cNvCxnSpPr/>
          <p:nvPr/>
        </p:nvCxnSpPr>
        <p:spPr>
          <a:xfrm flipH="1" flipV="1">
            <a:off x="7543800" y="2545882"/>
            <a:ext cx="2540000" cy="500513"/>
          </a:xfrm>
          <a:prstGeom prst="line">
            <a:avLst/>
          </a:prstGeom>
          <a:ln w="16510">
            <a:solidFill>
              <a:srgbClr val="4357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630920" y="268641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BAC9DC"/>
                </a:solidFill>
                <a:latin typeface="Aptos"/>
              </a:defRPr>
            </a:pPr>
            <a:r>
              <a:t>430</a:t>
            </a:r>
          </a:p>
        </p:txBody>
      </p:sp>
      <p:cxnSp>
        <p:nvCxnSpPr>
          <p:cNvPr id="36" name="Connector 35"/>
          <p:cNvCxnSpPr/>
          <p:nvPr/>
        </p:nvCxnSpPr>
        <p:spPr>
          <a:xfrm flipH="1" flipV="1">
            <a:off x="8623300" y="4297680"/>
            <a:ext cx="190500" cy="1063591"/>
          </a:xfrm>
          <a:prstGeom prst="line">
            <a:avLst/>
          </a:prstGeom>
          <a:ln w="16510">
            <a:solidFill>
              <a:srgbClr val="4357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8535670" y="4719747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BAC9DC"/>
                </a:solidFill>
                <a:latin typeface="Aptos"/>
              </a:defRPr>
            </a:pPr>
            <a:r>
              <a:t>190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8813800" y="4547936"/>
            <a:ext cx="1460500" cy="813335"/>
          </a:xfrm>
          <a:prstGeom prst="line">
            <a:avLst/>
          </a:prstGeom>
          <a:ln w="16510">
            <a:solidFill>
              <a:srgbClr val="4357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9361170" y="4844876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BAC9DC"/>
                </a:solidFill>
                <a:latin typeface="Aptos"/>
              </a:defRPr>
            </a:pPr>
            <a:r>
              <a:t>290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623300" y="4297680"/>
            <a:ext cx="1651000" cy="250256"/>
          </a:xfrm>
          <a:prstGeom prst="line">
            <a:avLst/>
          </a:prstGeom>
          <a:ln w="16510">
            <a:solidFill>
              <a:srgbClr val="4357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9265920" y="43130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BAC9DC"/>
                </a:solidFill>
                <a:latin typeface="Aptos"/>
              </a:defRPr>
            </a:pPr>
            <a:r>
              <a:t>280</a:t>
            </a:r>
          </a:p>
        </p:txBody>
      </p:sp>
      <p:sp>
        <p:nvSpPr>
          <p:cNvPr id="42" name="Oval 41"/>
          <p:cNvSpPr/>
          <p:nvPr/>
        </p:nvSpPr>
        <p:spPr>
          <a:xfrm>
            <a:off x="7874508" y="4810465"/>
            <a:ext cx="100584" cy="100584"/>
          </a:xfrm>
          <a:prstGeom prst="ellipse">
            <a:avLst/>
          </a:prstGeom>
          <a:solidFill>
            <a:srgbClr val="6B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257287" y="4513285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E9F0FB"/>
                </a:solidFill>
                <a:latin typeface="Aptos"/>
              </a:defRPr>
            </a:pPr>
            <a:r>
              <a:t>Academic Block</a:t>
            </a:r>
          </a:p>
        </p:txBody>
      </p:sp>
      <p:sp>
        <p:nvSpPr>
          <p:cNvPr id="44" name="Oval 43"/>
          <p:cNvSpPr/>
          <p:nvPr/>
        </p:nvSpPr>
        <p:spPr>
          <a:xfrm>
            <a:off x="6985508" y="4935594"/>
            <a:ext cx="100584" cy="100584"/>
          </a:xfrm>
          <a:prstGeom prst="ellipse">
            <a:avLst/>
          </a:prstGeom>
          <a:solidFill>
            <a:srgbClr val="6B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68288" y="4638414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E9F0FB"/>
                </a:solidFill>
                <a:latin typeface="Aptos"/>
              </a:defRPr>
            </a:pPr>
            <a:r>
              <a:t>Administrative Block</a:t>
            </a:r>
          </a:p>
        </p:txBody>
      </p:sp>
      <p:sp>
        <p:nvSpPr>
          <p:cNvPr id="46" name="Oval 45"/>
          <p:cNvSpPr/>
          <p:nvPr/>
        </p:nvSpPr>
        <p:spPr>
          <a:xfrm>
            <a:off x="7493508" y="3684310"/>
            <a:ext cx="100584" cy="100584"/>
          </a:xfrm>
          <a:prstGeom prst="ellipse">
            <a:avLst/>
          </a:prstGeom>
          <a:solidFill>
            <a:srgbClr val="6B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76288" y="3387130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E9F0FB"/>
                </a:solidFill>
                <a:latin typeface="Aptos"/>
              </a:defRPr>
            </a:pPr>
            <a:r>
              <a:t>Auditorium</a:t>
            </a:r>
          </a:p>
        </p:txBody>
      </p:sp>
      <p:sp>
        <p:nvSpPr>
          <p:cNvPr id="48" name="Oval 47"/>
          <p:cNvSpPr/>
          <p:nvPr/>
        </p:nvSpPr>
        <p:spPr>
          <a:xfrm>
            <a:off x="8890508" y="3246360"/>
            <a:ext cx="100584" cy="100584"/>
          </a:xfrm>
          <a:prstGeom prst="ellipse">
            <a:avLst/>
          </a:prstGeom>
          <a:solidFill>
            <a:srgbClr val="6B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273288" y="2949180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E9F0FB"/>
                </a:solidFill>
                <a:latin typeface="Aptos"/>
              </a:defRPr>
            </a:pPr>
            <a:r>
              <a:t>Canteen</a:t>
            </a:r>
          </a:p>
        </p:txBody>
      </p:sp>
      <p:sp>
        <p:nvSpPr>
          <p:cNvPr id="50" name="Oval 49"/>
          <p:cNvSpPr/>
          <p:nvPr/>
        </p:nvSpPr>
        <p:spPr>
          <a:xfrm>
            <a:off x="10033508" y="2996103"/>
            <a:ext cx="100584" cy="100584"/>
          </a:xfrm>
          <a:prstGeom prst="ellipse">
            <a:avLst/>
          </a:prstGeom>
          <a:solidFill>
            <a:srgbClr val="6B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416288" y="2698923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E9F0FB"/>
                </a:solidFill>
                <a:latin typeface="Aptos"/>
              </a:defRPr>
            </a:pPr>
            <a:r>
              <a:t>Hostel</a:t>
            </a:r>
          </a:p>
        </p:txBody>
      </p:sp>
      <p:sp>
        <p:nvSpPr>
          <p:cNvPr id="52" name="Oval 51"/>
          <p:cNvSpPr/>
          <p:nvPr/>
        </p:nvSpPr>
        <p:spPr>
          <a:xfrm>
            <a:off x="8763508" y="5310979"/>
            <a:ext cx="100584" cy="100584"/>
          </a:xfrm>
          <a:prstGeom prst="ellipse">
            <a:avLst/>
          </a:prstGeom>
          <a:solidFill>
            <a:srgbClr val="6B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146288" y="5013799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E9F0FB"/>
                </a:solidFill>
                <a:latin typeface="Aptos"/>
              </a:defRPr>
            </a:pPr>
            <a:r>
              <a:t>Laboratory</a:t>
            </a:r>
          </a:p>
        </p:txBody>
      </p:sp>
      <p:sp>
        <p:nvSpPr>
          <p:cNvPr id="54" name="Oval 53"/>
          <p:cNvSpPr/>
          <p:nvPr/>
        </p:nvSpPr>
        <p:spPr>
          <a:xfrm>
            <a:off x="8573008" y="4247388"/>
            <a:ext cx="100584" cy="100584"/>
          </a:xfrm>
          <a:prstGeom prst="ellipse">
            <a:avLst/>
          </a:prstGeom>
          <a:solidFill>
            <a:srgbClr val="6B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955787" y="3950208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E9F0FB"/>
                </a:solidFill>
                <a:latin typeface="Aptos"/>
              </a:defRPr>
            </a:pPr>
            <a:r>
              <a:t>Library</a:t>
            </a:r>
          </a:p>
        </p:txBody>
      </p:sp>
      <p:sp>
        <p:nvSpPr>
          <p:cNvPr id="56" name="Oval 55"/>
          <p:cNvSpPr/>
          <p:nvPr/>
        </p:nvSpPr>
        <p:spPr>
          <a:xfrm>
            <a:off x="6350508" y="5436108"/>
            <a:ext cx="100584" cy="100584"/>
          </a:xfrm>
          <a:prstGeom prst="ellipse">
            <a:avLst/>
          </a:prstGeom>
          <a:solidFill>
            <a:srgbClr val="6B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33288" y="5138928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E9F0FB"/>
                </a:solidFill>
                <a:latin typeface="Aptos"/>
              </a:defRPr>
            </a:pPr>
            <a:r>
              <a:t>Main Gate</a:t>
            </a:r>
          </a:p>
        </p:txBody>
      </p:sp>
      <p:sp>
        <p:nvSpPr>
          <p:cNvPr id="58" name="Oval 57"/>
          <p:cNvSpPr/>
          <p:nvPr/>
        </p:nvSpPr>
        <p:spPr>
          <a:xfrm>
            <a:off x="10224008" y="4497644"/>
            <a:ext cx="100584" cy="100584"/>
          </a:xfrm>
          <a:prstGeom prst="ellipse">
            <a:avLst/>
          </a:prstGeom>
          <a:solidFill>
            <a:srgbClr val="6B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606788" y="4200464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E9F0FB"/>
                </a:solidFill>
                <a:latin typeface="Aptos"/>
              </a:defRPr>
            </a:pPr>
            <a:r>
              <a:t>Medical Centre</a:t>
            </a:r>
          </a:p>
        </p:txBody>
      </p:sp>
      <p:sp>
        <p:nvSpPr>
          <p:cNvPr id="60" name="Oval 59"/>
          <p:cNvSpPr/>
          <p:nvPr/>
        </p:nvSpPr>
        <p:spPr>
          <a:xfrm>
            <a:off x="7493508" y="2495590"/>
            <a:ext cx="100584" cy="100584"/>
          </a:xfrm>
          <a:prstGeom prst="ellipse">
            <a:avLst/>
          </a:prstGeom>
          <a:solidFill>
            <a:srgbClr val="6B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876288" y="2198410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E9F0FB"/>
                </a:solidFill>
                <a:latin typeface="Aptos"/>
              </a:defRPr>
            </a:pPr>
            <a:r>
              <a:t>Sports Ground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35D9C0"/>
                </a:solidFill>
                <a:latin typeface="Aptos"/>
              </a:defRPr>
            </a:pPr>
            <a:r>
              <a:t>SMART CAMPUS / ALGORITHM STUDIO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E9F0FB"/>
                </a:solidFill>
                <a:latin typeface="Aptos"/>
              </a:defRPr>
            </a:pPr>
            <a:r>
              <a:t>Two campus problems, two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9224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91A4BC"/>
                </a:solidFill>
                <a:latin typeface="Aptos"/>
              </a:defRPr>
            </a:pPr>
            <a:r>
              <a:t>01AI0506 · Fictional campus · Distances in metres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9224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91A4BC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828800"/>
            <a:ext cx="5394960" cy="3474720"/>
          </a:xfrm>
          <a:prstGeom prst="roundRect">
            <a:avLst/>
          </a:prstGeom>
          <a:solidFill>
            <a:srgbClr val="142238"/>
          </a:solidFill>
          <a:ln>
            <a:solidFill>
              <a:srgbClr val="2B4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2011680"/>
            <a:ext cx="49926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35D9C0"/>
                </a:solidFill>
                <a:latin typeface="Aptos"/>
              </a:defRPr>
            </a:pPr>
            <a:r>
              <a:t>A student’s journey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651760"/>
            <a:ext cx="4992624" cy="2606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E9F0FB"/>
                </a:solidFill>
                <a:latin typeface="Aptos"/>
              </a:defRPr>
            </a:pPr>
            <a:r>
              <a:t>Find the least walking distance between two selected locations.</a:t>
            </a:r>
          </a:p>
          <a:p>
            <a:pPr>
              <a:spcAft>
                <a:spcPts val="1200"/>
              </a:spcAft>
              <a:defRPr sz="1900" b="0">
                <a:solidFill>
                  <a:srgbClr val="E9F0FB"/>
                </a:solidFill>
                <a:latin typeface="Aptos"/>
              </a:defRPr>
            </a:pPr>
            <a:r>
              <a:t>Example: Main Gate → Hostel = 830 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828800"/>
            <a:ext cx="5394960" cy="3474720"/>
          </a:xfrm>
          <a:prstGeom prst="roundRect">
            <a:avLst/>
          </a:prstGeom>
          <a:solidFill>
            <a:srgbClr val="142238"/>
          </a:solidFill>
          <a:ln>
            <a:solidFill>
              <a:srgbClr val="2B4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9088" y="2011680"/>
            <a:ext cx="49926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35D9C0"/>
                </a:solidFill>
                <a:latin typeface="Aptos"/>
              </a:defRPr>
            </a:pPr>
            <a:r>
              <a:t>An administrator’s network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9088" y="2651760"/>
            <a:ext cx="4992624" cy="2606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E9F0FB"/>
                </a:solidFill>
                <a:latin typeface="Aptos"/>
              </a:defRPr>
            </a:pPr>
            <a:r>
              <a:t>Connect every location with minimum total pathway length.</a:t>
            </a:r>
          </a:p>
          <a:p>
            <a:pPr>
              <a:spcAft>
                <a:spcPts val="1200"/>
              </a:spcAft>
              <a:defRPr sz="1900" b="0">
                <a:solidFill>
                  <a:srgbClr val="E9F0FB"/>
                </a:solidFill>
                <a:latin typeface="Aptos"/>
              </a:defRPr>
            </a:pPr>
            <a:r>
              <a:t>Example: 9-edge MST = 1,690 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5778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F5C769"/>
                </a:solidFill>
                <a:latin typeface="Aptos"/>
              </a:defRPr>
            </a:pPr>
            <a:r>
              <a:t>A minimum spanning tree does not guarantee the shortest route for each journey.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35D9C0"/>
                </a:solidFill>
                <a:latin typeface="Aptos"/>
              </a:defRPr>
            </a:pPr>
            <a:r>
              <a:t>SMART CAMPUS / ALGORITHM STUDIO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E9F0FB"/>
                </a:solidFill>
                <a:latin typeface="Aptos"/>
              </a:defRPr>
            </a:pPr>
            <a:r>
              <a:t>Scope and 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9224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91A4BC"/>
                </a:solidFill>
                <a:latin typeface="Aptos"/>
              </a:defRPr>
            </a:pPr>
            <a:r>
              <a:t>01AI0506 · Fictional campus · Distances in metres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9224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91A4BC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783080"/>
            <a:ext cx="3566160" cy="4206240"/>
          </a:xfrm>
          <a:prstGeom prst="roundRect">
            <a:avLst/>
          </a:prstGeom>
          <a:solidFill>
            <a:srgbClr val="142238"/>
          </a:solidFill>
          <a:ln>
            <a:solidFill>
              <a:srgbClr val="2B4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965960"/>
            <a:ext cx="31638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35D9C0"/>
                </a:solidFill>
                <a:latin typeface="Aptos"/>
              </a:defRPr>
            </a:pPr>
            <a:r>
              <a:t>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606040"/>
            <a:ext cx="3163824" cy="3337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E9F0FB"/>
                </a:solidFill>
                <a:latin typeface="Aptos"/>
              </a:defRPr>
            </a:pPr>
            <a:r>
              <a:t>10 locations</a:t>
            </a:r>
          </a:p>
          <a:p>
            <a:pPr>
              <a:spcAft>
                <a:spcPts val="1200"/>
              </a:spcAft>
              <a:defRPr sz="1900" b="0">
                <a:solidFill>
                  <a:srgbClr val="E9F0FB"/>
                </a:solidFill>
                <a:latin typeface="Aptos"/>
              </a:defRPr>
            </a:pPr>
            <a:r>
              <a:t>17 undirected paths</a:t>
            </a:r>
          </a:p>
          <a:p>
            <a:pPr>
              <a:spcAft>
                <a:spcPts val="1200"/>
              </a:spcAft>
              <a:defRPr sz="1900" b="0">
                <a:solidFill>
                  <a:srgbClr val="E9F0FB"/>
                </a:solidFill>
                <a:latin typeface="Aptos"/>
              </a:defRPr>
            </a:pPr>
            <a:r>
              <a:t>Nonnegative metres</a:t>
            </a:r>
          </a:p>
          <a:p>
            <a:pPr>
              <a:spcAft>
                <a:spcPts val="1200"/>
              </a:spcAft>
              <a:defRPr sz="1900" b="0">
                <a:solidFill>
                  <a:srgbClr val="E9F0FB"/>
                </a:solidFill>
                <a:latin typeface="Aptos"/>
              </a:defRPr>
            </a:pPr>
            <a:r>
              <a:t>Fictional coordinates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783080"/>
            <a:ext cx="3566160" cy="4206240"/>
          </a:xfrm>
          <a:prstGeom prst="roundRect">
            <a:avLst/>
          </a:prstGeom>
          <a:solidFill>
            <a:srgbClr val="142238"/>
          </a:solidFill>
          <a:ln>
            <a:solidFill>
              <a:srgbClr val="2B4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44568" y="1965960"/>
            <a:ext cx="31638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35D9C0"/>
                </a:solidFill>
                <a:latin typeface="Aptos"/>
              </a:defRPr>
            </a:pPr>
            <a:r>
              <a:t>Implement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2606040"/>
            <a:ext cx="3163824" cy="3337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E9F0FB"/>
                </a:solidFill>
                <a:latin typeface="Aptos"/>
              </a:defRPr>
            </a:pPr>
            <a:r>
              <a:t>Six handwritten algorithms</a:t>
            </a:r>
          </a:p>
          <a:p>
            <a:pPr>
              <a:spcAft>
                <a:spcPts val="1200"/>
              </a:spcAft>
              <a:defRPr sz="1900" b="0">
                <a:solidFill>
                  <a:srgbClr val="E9F0FB"/>
                </a:solidFill>
                <a:latin typeface="Aptos"/>
              </a:defRPr>
            </a:pPr>
            <a:r>
              <a:t>Step histories</a:t>
            </a:r>
          </a:p>
          <a:p>
            <a:pPr>
              <a:spcAft>
                <a:spcPts val="1200"/>
              </a:spcAft>
              <a:defRPr sz="1900" b="0">
                <a:solidFill>
                  <a:srgbClr val="E9F0FB"/>
                </a:solidFill>
                <a:latin typeface="Aptos"/>
              </a:defRPr>
            </a:pPr>
            <a:r>
              <a:t>Path reconstruction</a:t>
            </a:r>
          </a:p>
          <a:p>
            <a:pPr>
              <a:spcAft>
                <a:spcPts val="1200"/>
              </a:spcAft>
              <a:defRPr sz="1900" b="0">
                <a:solidFill>
                  <a:srgbClr val="E9F0FB"/>
                </a:solidFill>
                <a:latin typeface="Aptos"/>
              </a:defRPr>
            </a:pPr>
            <a:r>
              <a:t>Validated graph edits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783080"/>
            <a:ext cx="3474720" cy="4206240"/>
          </a:xfrm>
          <a:prstGeom prst="roundRect">
            <a:avLst/>
          </a:prstGeom>
          <a:solidFill>
            <a:srgbClr val="142238"/>
          </a:solidFill>
          <a:ln>
            <a:solidFill>
              <a:srgbClr val="2B4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93608" y="1965960"/>
            <a:ext cx="30723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35D9C0"/>
                </a:solidFill>
                <a:latin typeface="Aptos"/>
              </a:defRPr>
            </a:pPr>
            <a:r>
              <a:t>Explain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93608" y="2606040"/>
            <a:ext cx="3072384" cy="3337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E9F0FB"/>
                </a:solidFill>
                <a:latin typeface="Aptos"/>
              </a:defRPr>
            </a:pPr>
            <a:r>
              <a:t>Unit 4 graph / greedy work</a:t>
            </a:r>
          </a:p>
          <a:p>
            <a:pPr>
              <a:spcAft>
                <a:spcPts val="1200"/>
              </a:spcAft>
              <a:defRPr sz="1900" b="0">
                <a:solidFill>
                  <a:srgbClr val="E9F0FB"/>
                </a:solidFill>
                <a:latin typeface="Aptos"/>
              </a:defRPr>
            </a:pPr>
            <a:r>
              <a:t>Unit 1 efficiency</a:t>
            </a:r>
          </a:p>
          <a:p>
            <a:pPr>
              <a:spcAft>
                <a:spcPts val="1200"/>
              </a:spcAft>
              <a:defRPr sz="1900" b="0">
                <a:solidFill>
                  <a:srgbClr val="E9F0FB"/>
                </a:solidFill>
                <a:latin typeface="Aptos"/>
              </a:defRPr>
            </a:pPr>
            <a:r>
              <a:t>Correctness and tests</a:t>
            </a:r>
          </a:p>
          <a:p>
            <a:pPr>
              <a:spcAft>
                <a:spcPts val="1200"/>
              </a:spcAft>
              <a:defRPr sz="1900" b="0">
                <a:solidFill>
                  <a:srgbClr val="E9F0FB"/>
                </a:solidFill>
                <a:latin typeface="Aptos"/>
              </a:defRPr>
            </a:pPr>
            <a:r>
              <a:t>Practical 8–11 mapping*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0807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91A4BC"/>
                </a:solidFill>
                <a:latin typeface="Aptos"/>
              </a:defRPr>
            </a:pPr>
            <a:r>
              <a:t>*Mapping supplied in the brief; no separate official syllabus was attached.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35D9C0"/>
                </a:solidFill>
                <a:latin typeface="Aptos"/>
              </a:defRPr>
            </a:pPr>
            <a:r>
              <a:t>SMART CAMPUS / ALGORITHM STUDIO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E9F0FB"/>
                </a:solidFill>
                <a:latin typeface="Aptos"/>
              </a:defRPr>
            </a:pPr>
            <a:r>
              <a:t>One graph, six useful perspectives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9224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91A4BC"/>
                </a:solidFill>
                <a:latin typeface="Aptos"/>
              </a:defRPr>
            </a:pPr>
            <a:r>
              <a:t>01AI0506 · Fictional campus · Distances in metres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9224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91A4BC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783080"/>
            <a:ext cx="3520440" cy="1920240"/>
          </a:xfrm>
          <a:prstGeom prst="roundRect">
            <a:avLst/>
          </a:prstGeom>
          <a:solidFill>
            <a:srgbClr val="142238"/>
          </a:solidFill>
          <a:ln>
            <a:solidFill>
              <a:srgbClr val="2B4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965960"/>
            <a:ext cx="31181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35D9C0"/>
                </a:solidFill>
                <a:latin typeface="Aptos"/>
              </a:defRPr>
            </a:pPr>
            <a:r>
              <a:t>BFS / DFS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606040"/>
            <a:ext cx="311810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E9F0FB"/>
                </a:solidFill>
                <a:latin typeface="Aptos"/>
              </a:defRPr>
            </a:pPr>
            <a:r>
              <a:t>Explore reachability</a:t>
            </a:r>
          </a:p>
          <a:p>
            <a:pPr>
              <a:spcAft>
                <a:spcPts val="1200"/>
              </a:spcAft>
              <a:defRPr sz="1900" b="0">
                <a:solidFill>
                  <a:srgbClr val="E9F0FB"/>
                </a:solidFill>
                <a:latin typeface="Aptos"/>
              </a:defRPr>
            </a:pPr>
            <a:r>
              <a:t>Queue versus stack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783080"/>
            <a:ext cx="3520440" cy="1920240"/>
          </a:xfrm>
          <a:prstGeom prst="roundRect">
            <a:avLst/>
          </a:prstGeom>
          <a:solidFill>
            <a:srgbClr val="142238"/>
          </a:solidFill>
          <a:ln>
            <a:solidFill>
              <a:srgbClr val="2B4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44568" y="1965960"/>
            <a:ext cx="31181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35D9C0"/>
                </a:solidFill>
                <a:latin typeface="Aptos"/>
              </a:defRPr>
            </a:pPr>
            <a:r>
              <a:t>Dijkstra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2606040"/>
            <a:ext cx="311810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E9F0FB"/>
                </a:solidFill>
                <a:latin typeface="Aptos"/>
              </a:defRPr>
            </a:pPr>
            <a:r>
              <a:t>One source</a:t>
            </a:r>
          </a:p>
          <a:p>
            <a:pPr>
              <a:spcAft>
                <a:spcPts val="1200"/>
              </a:spcAft>
              <a:defRPr sz="1900" b="0">
                <a:solidFill>
                  <a:srgbClr val="E9F0FB"/>
                </a:solidFill>
                <a:latin typeface="Aptos"/>
              </a:defRPr>
            </a:pPr>
            <a:r>
              <a:t>Shortest weighted routes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783080"/>
            <a:ext cx="3520440" cy="1920240"/>
          </a:xfrm>
          <a:prstGeom prst="roundRect">
            <a:avLst/>
          </a:prstGeom>
          <a:solidFill>
            <a:srgbClr val="142238"/>
          </a:solidFill>
          <a:ln>
            <a:solidFill>
              <a:srgbClr val="2B4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93608" y="1965960"/>
            <a:ext cx="31181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35D9C0"/>
                </a:solidFill>
                <a:latin typeface="Aptos"/>
              </a:defRPr>
            </a:pPr>
            <a:r>
              <a:t>Floyd-Warshall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93608" y="2606040"/>
            <a:ext cx="311810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E9F0FB"/>
                </a:solidFill>
                <a:latin typeface="Aptos"/>
              </a:defRPr>
            </a:pPr>
            <a:r>
              <a:t>Every pair</a:t>
            </a:r>
          </a:p>
          <a:p>
            <a:pPr>
              <a:spcAft>
                <a:spcPts val="1200"/>
              </a:spcAft>
              <a:defRPr sz="1900" b="0">
                <a:solidFill>
                  <a:srgbClr val="E9F0FB"/>
                </a:solidFill>
                <a:latin typeface="Aptos"/>
              </a:defRPr>
            </a:pPr>
            <a:r>
              <a:t>Intermediate-node DP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977639"/>
            <a:ext cx="3520440" cy="1920240"/>
          </a:xfrm>
          <a:prstGeom prst="roundRect">
            <a:avLst/>
          </a:prstGeom>
          <a:solidFill>
            <a:srgbClr val="142238"/>
          </a:solidFill>
          <a:ln>
            <a:solidFill>
              <a:srgbClr val="2B4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4160520"/>
            <a:ext cx="31181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35D9C0"/>
                </a:solidFill>
                <a:latin typeface="Aptos"/>
              </a:defRPr>
            </a:pPr>
            <a:r>
              <a:t>Prim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4800600"/>
            <a:ext cx="311810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E9F0FB"/>
                </a:solidFill>
                <a:latin typeface="Aptos"/>
              </a:defRPr>
            </a:pPr>
            <a:r>
              <a:t>Grow a minimum tree</a:t>
            </a:r>
          </a:p>
          <a:p>
            <a:pPr>
              <a:spcAft>
                <a:spcPts val="1200"/>
              </a:spcAft>
              <a:defRPr sz="1900" b="0">
                <a:solidFill>
                  <a:srgbClr val="E9F0FB"/>
                </a:solidFill>
                <a:latin typeface="Aptos"/>
              </a:defRPr>
            </a:pPr>
            <a:r>
              <a:t>Cheapest crossing edge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3977639"/>
            <a:ext cx="3520440" cy="1920240"/>
          </a:xfrm>
          <a:prstGeom prst="roundRect">
            <a:avLst/>
          </a:prstGeom>
          <a:solidFill>
            <a:srgbClr val="142238"/>
          </a:solidFill>
          <a:ln>
            <a:solidFill>
              <a:srgbClr val="2B4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44568" y="4160520"/>
            <a:ext cx="31181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35D9C0"/>
                </a:solidFill>
                <a:latin typeface="Aptos"/>
              </a:defRPr>
            </a:pPr>
            <a:r>
              <a:t>Kruskal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4568" y="4800600"/>
            <a:ext cx="311810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E9F0FB"/>
                </a:solidFill>
                <a:latin typeface="Aptos"/>
              </a:defRPr>
            </a:pPr>
            <a:r>
              <a:t>Sort and join</a:t>
            </a:r>
          </a:p>
          <a:p>
            <a:pPr>
              <a:spcAft>
                <a:spcPts val="1200"/>
              </a:spcAft>
              <a:defRPr sz="1900" b="0">
                <a:solidFill>
                  <a:srgbClr val="E9F0FB"/>
                </a:solidFill>
                <a:latin typeface="Aptos"/>
              </a:defRPr>
            </a:pPr>
            <a:r>
              <a:t>DSU rejects cycle edges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2440" y="3977639"/>
            <a:ext cx="3520440" cy="1920240"/>
          </a:xfrm>
          <a:prstGeom prst="roundRect">
            <a:avLst/>
          </a:prstGeom>
          <a:solidFill>
            <a:srgbClr val="142238"/>
          </a:solidFill>
          <a:ln>
            <a:solidFill>
              <a:srgbClr val="2B4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93608" y="4160520"/>
            <a:ext cx="31181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35D9C0"/>
                </a:solidFill>
                <a:latin typeface="Aptos"/>
              </a:defRPr>
            </a:pPr>
            <a:r>
              <a:t>Learning Lab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3608" y="4800600"/>
            <a:ext cx="311810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E9F0FB"/>
                </a:solidFill>
                <a:latin typeface="Aptos"/>
              </a:defRPr>
            </a:pPr>
            <a:r>
              <a:t>Pseudocode + steps</a:t>
            </a:r>
          </a:p>
          <a:p>
            <a:pPr>
              <a:spcAft>
                <a:spcPts val="1200"/>
              </a:spcAft>
              <a:defRPr sz="1900" b="0">
                <a:solidFill>
                  <a:srgbClr val="E9F0FB"/>
                </a:solidFill>
                <a:latin typeface="Aptos"/>
              </a:defRPr>
            </a:pPr>
            <a:r>
              <a:t>Complexity + measurements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35D9C0"/>
                </a:solidFill>
                <a:latin typeface="Aptos"/>
              </a:defRPr>
            </a:pPr>
            <a:r>
              <a:t>SMART CAMPUS / ALGORITHM STUDIO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E9F0FB"/>
                </a:solidFill>
                <a:latin typeface="Aptos"/>
              </a:defRPr>
            </a:pPr>
            <a:r>
              <a:t>Readable architecture, local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9224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91A4BC"/>
                </a:solidFill>
                <a:latin typeface="Aptos"/>
              </a:defRPr>
            </a:pPr>
            <a:r>
              <a:t>01AI0506 · Fictional campus · Distances in metres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9224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91A4BC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94560"/>
            <a:ext cx="2423160" cy="2560320"/>
          </a:xfrm>
          <a:prstGeom prst="roundRect">
            <a:avLst/>
          </a:prstGeom>
          <a:solidFill>
            <a:srgbClr val="142238"/>
          </a:solidFill>
          <a:ln>
            <a:solidFill>
              <a:srgbClr val="2B4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2377440"/>
            <a:ext cx="20208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35D9C0"/>
                </a:solidFill>
                <a:latin typeface="Aptos"/>
              </a:defRPr>
            </a:pPr>
            <a:r>
              <a:t>Dataset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3017520"/>
            <a:ext cx="2020824" cy="1691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E9F0FB"/>
                </a:solidFill>
                <a:latin typeface="Aptos"/>
              </a:defRPr>
            </a:pPr>
            <a:r>
              <a:t>campus.json</a:t>
            </a:r>
          </a:p>
          <a:p>
            <a:pPr>
              <a:spcAft>
                <a:spcPts val="1200"/>
              </a:spcAft>
              <a:defRPr sz="1900" b="0">
                <a:solidFill>
                  <a:srgbClr val="E9F0FB"/>
                </a:solidFill>
                <a:latin typeface="Aptos"/>
              </a:defRPr>
            </a:pPr>
            <a:r>
              <a:t>Graph validation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2194560"/>
            <a:ext cx="2423160" cy="2560320"/>
          </a:xfrm>
          <a:prstGeom prst="roundRect">
            <a:avLst/>
          </a:prstGeom>
          <a:solidFill>
            <a:srgbClr val="142238"/>
          </a:solidFill>
          <a:ln>
            <a:solidFill>
              <a:srgbClr val="2B4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5887" y="2377440"/>
            <a:ext cx="20208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35D9C0"/>
                </a:solidFill>
                <a:latin typeface="Aptos"/>
              </a:defRPr>
            </a:pPr>
            <a:r>
              <a:t>Algorithms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75887" y="3017520"/>
            <a:ext cx="2020824" cy="1691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E9F0FB"/>
                </a:solidFill>
                <a:latin typeface="Aptos"/>
              </a:defRPr>
            </a:pPr>
            <a:r>
              <a:t>Standard Python</a:t>
            </a:r>
          </a:p>
          <a:p>
            <a:pPr>
              <a:spcAft>
                <a:spcPts val="1200"/>
              </a:spcAft>
              <a:defRPr sz="1900" b="0">
                <a:solidFill>
                  <a:srgbClr val="E9F0FB"/>
                </a:solidFill>
                <a:latin typeface="Aptos"/>
              </a:defRPr>
            </a:pPr>
            <a:r>
              <a:t>Result + events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2194560"/>
            <a:ext cx="2423160" cy="2560320"/>
          </a:xfrm>
          <a:prstGeom prst="roundRect">
            <a:avLst/>
          </a:prstGeom>
          <a:solidFill>
            <a:srgbClr val="142238"/>
          </a:solidFill>
          <a:ln>
            <a:solidFill>
              <a:srgbClr val="2B4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6248" y="2377440"/>
            <a:ext cx="20208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35D9C0"/>
                </a:solidFill>
                <a:latin typeface="Aptos"/>
              </a:defRPr>
            </a:pPr>
            <a:r>
              <a:t>Interface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6248" y="3017520"/>
            <a:ext cx="2020824" cy="1691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E9F0FB"/>
                </a:solidFill>
                <a:latin typeface="Aptos"/>
              </a:defRPr>
            </a:pPr>
            <a:r>
              <a:t>Streamlit controls</a:t>
            </a:r>
          </a:p>
          <a:p>
            <a:pPr>
              <a:spcAft>
                <a:spcPts val="1200"/>
              </a:spcAft>
              <a:defRPr sz="1900" b="0">
                <a:solidFill>
                  <a:srgbClr val="E9F0FB"/>
                </a:solidFill>
                <a:latin typeface="Aptos"/>
              </a:defRPr>
            </a:pPr>
            <a:r>
              <a:t>Plotly highlights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35440" y="2194560"/>
            <a:ext cx="2423160" cy="2560320"/>
          </a:xfrm>
          <a:prstGeom prst="roundRect">
            <a:avLst/>
          </a:prstGeom>
          <a:solidFill>
            <a:srgbClr val="142238"/>
          </a:solidFill>
          <a:ln>
            <a:solidFill>
              <a:srgbClr val="2B4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36608" y="2377440"/>
            <a:ext cx="20208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35D9C0"/>
                </a:solidFill>
                <a:latin typeface="Aptos"/>
              </a:defRPr>
            </a:pPr>
            <a:r>
              <a:t>Evidence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6608" y="3017520"/>
            <a:ext cx="2020824" cy="1691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E9F0FB"/>
                </a:solidFill>
                <a:latin typeface="Aptos"/>
              </a:defRPr>
            </a:pPr>
            <a:r>
              <a:t>unittest checks</a:t>
            </a:r>
          </a:p>
          <a:p>
            <a:pPr>
              <a:spcAft>
                <a:spcPts val="1200"/>
              </a:spcAft>
              <a:defRPr sz="1900" b="0">
                <a:solidFill>
                  <a:srgbClr val="E9F0FB"/>
                </a:solidFill>
                <a:latin typeface="Aptos"/>
              </a:defRPr>
            </a:pPr>
            <a:r>
              <a:t>PDF + 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25780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 b="0">
                <a:solidFill>
                  <a:srgbClr val="B8CBE4"/>
                </a:solidFill>
                <a:latin typeface="Aptos"/>
              </a:defRPr>
            </a:pPr>
            <a:r>
              <a:t>Session edits → recompute → inspect → restore</a:t>
            </a:r>
          </a:p>
          <a:p>
            <a:pPr>
              <a:spcAft>
                <a:spcPts val="1200"/>
              </a:spcAft>
              <a:defRPr sz="2100" b="0">
                <a:solidFill>
                  <a:srgbClr val="B8CBE4"/>
                </a:solidFill>
                <a:latin typeface="Aptos"/>
              </a:defRPr>
            </a:pPr>
            <a:r>
              <a:t>No database, account, API key or cloud subscription.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35D9C0"/>
                </a:solidFill>
                <a:latin typeface="Aptos"/>
              </a:defRPr>
            </a:pPr>
            <a:r>
              <a:t>SMART CAMPUS / ALGORITHM STUDIO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E9F0FB"/>
                </a:solidFill>
                <a:latin typeface="Aptos"/>
              </a:defRPr>
            </a:pPr>
            <a:r>
              <a:t>Dijkstra in action: 830 metres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9224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91A4BC"/>
                </a:solidFill>
                <a:latin typeface="Aptos"/>
              </a:defRPr>
            </a:pPr>
            <a:r>
              <a:t>01AI0506 · Fictional campus · Distances in metres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9224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91A4BC"/>
                </a:solidFill>
                <a:latin typeface="Aptos"/>
              </a:defRPr>
            </a:pPr>
            <a:r>
              <a:t>06</a:t>
            </a:r>
          </a:p>
        </p:txBody>
      </p:sp>
      <p:cxnSp>
        <p:nvCxnSpPr>
          <p:cNvPr id="6" name="Connector 5"/>
          <p:cNvCxnSpPr/>
          <p:nvPr/>
        </p:nvCxnSpPr>
        <p:spPr>
          <a:xfrm flipH="1">
            <a:off x="1724660" y="4965833"/>
            <a:ext cx="1262379" cy="131545"/>
          </a:xfrm>
          <a:prstGeom prst="line">
            <a:avLst/>
          </a:prstGeom>
          <a:ln w="16510">
            <a:solidFill>
              <a:srgbClr val="4357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172969" y="492187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BAC9DC"/>
                </a:solidFill>
                <a:latin typeface="Aptos"/>
              </a:defRPr>
            </a:pPr>
            <a:r>
              <a:t>160</a:t>
            </a:r>
          </a:p>
        </p:txBody>
      </p:sp>
      <p:cxnSp>
        <p:nvCxnSpPr>
          <p:cNvPr id="8" name="Connector 7"/>
          <p:cNvCxnSpPr/>
          <p:nvPr/>
        </p:nvCxnSpPr>
        <p:spPr>
          <a:xfrm flipH="1" flipV="1">
            <a:off x="2446020" y="3781926"/>
            <a:ext cx="541019" cy="1183907"/>
          </a:xfrm>
          <a:prstGeom prst="line">
            <a:avLst/>
          </a:prstGeom>
          <a:ln w="16510">
            <a:solidFill>
              <a:srgbClr val="4357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533649" y="42641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BAC9DC"/>
                </a:solidFill>
                <a:latin typeface="Aptos"/>
              </a:defRPr>
            </a:pPr>
            <a:r>
              <a:t>210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987039" y="4965833"/>
            <a:ext cx="1262381" cy="526181"/>
          </a:xfrm>
          <a:prstGeom prst="line">
            <a:avLst/>
          </a:prstGeom>
          <a:ln w="16510">
            <a:solidFill>
              <a:srgbClr val="4357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435349" y="5119196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BAC9DC"/>
                </a:solidFill>
                <a:latin typeface="Aptos"/>
              </a:defRPr>
            </a:pPr>
            <a:r>
              <a:t>170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2987039" y="4373880"/>
            <a:ext cx="991871" cy="591953"/>
          </a:xfrm>
          <a:prstGeom prst="line">
            <a:avLst/>
          </a:prstGeom>
          <a:ln w="38100">
            <a:solidFill>
              <a:srgbClr val="35D9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300094" y="45601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BAC9DC"/>
                </a:solidFill>
                <a:latin typeface="Aptos"/>
              </a:defRPr>
            </a:pPr>
            <a:r>
              <a:t>150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822960" y="4965833"/>
            <a:ext cx="2164079" cy="657727"/>
          </a:xfrm>
          <a:prstGeom prst="line">
            <a:avLst/>
          </a:prstGeom>
          <a:ln w="38100">
            <a:solidFill>
              <a:srgbClr val="35D9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722119" y="518496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BAC9DC"/>
                </a:solidFill>
                <a:latin typeface="Aptos"/>
              </a:defRPr>
            </a:pPr>
            <a:r>
              <a:t>300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1724660" y="3781926"/>
            <a:ext cx="721360" cy="1315452"/>
          </a:xfrm>
          <a:prstGeom prst="line">
            <a:avLst/>
          </a:prstGeom>
          <a:ln w="16510">
            <a:solidFill>
              <a:srgbClr val="4357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902459" y="432992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BAC9DC"/>
                </a:solidFill>
                <a:latin typeface="Aptos"/>
              </a:defRPr>
            </a:pPr>
            <a:r>
              <a:t>240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822960" y="5097378"/>
            <a:ext cx="901700" cy="526182"/>
          </a:xfrm>
          <a:prstGeom prst="line">
            <a:avLst/>
          </a:prstGeom>
          <a:ln w="16510">
            <a:solidFill>
              <a:srgbClr val="4357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90930" y="5250741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BAC9DC"/>
                </a:solidFill>
                <a:latin typeface="Aptos"/>
              </a:defRPr>
            </a:pPr>
            <a:r>
              <a:t>140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2446020" y="3321517"/>
            <a:ext cx="1983740" cy="460409"/>
          </a:xfrm>
          <a:prstGeom prst="line">
            <a:avLst/>
          </a:prstGeom>
          <a:ln w="16510">
            <a:solidFill>
              <a:srgbClr val="4357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255010" y="344199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BAC9DC"/>
                </a:solidFill>
                <a:latin typeface="Aptos"/>
              </a:defRPr>
            </a:pPr>
            <a:r>
              <a:t>260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2446020" y="2532246"/>
            <a:ext cx="0" cy="1249680"/>
          </a:xfrm>
          <a:prstGeom prst="line">
            <a:avLst/>
          </a:prstGeom>
          <a:ln w="16510">
            <a:solidFill>
              <a:srgbClr val="4357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263139" y="304735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BAC9DC"/>
                </a:solidFill>
                <a:latin typeface="Aptos"/>
              </a:defRPr>
            </a:pPr>
            <a:r>
              <a:t>210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4429760" y="3058427"/>
            <a:ext cx="1623060" cy="263090"/>
          </a:xfrm>
          <a:prstGeom prst="line">
            <a:avLst/>
          </a:prstGeom>
          <a:ln w="38100">
            <a:solidFill>
              <a:srgbClr val="35D9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058410" y="308024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BAC9DC"/>
                </a:solidFill>
                <a:latin typeface="Aptos"/>
              </a:defRPr>
            </a:pPr>
            <a:r>
              <a:t>200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3978910" y="3321517"/>
            <a:ext cx="450850" cy="1052363"/>
          </a:xfrm>
          <a:prstGeom prst="line">
            <a:avLst/>
          </a:prstGeom>
          <a:ln w="38100">
            <a:solidFill>
              <a:srgbClr val="35D9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021454" y="373797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BAC9DC"/>
                </a:solidFill>
                <a:latin typeface="Aptos"/>
              </a:defRPr>
            </a:pPr>
            <a:r>
              <a:t>180</a:t>
            </a:r>
          </a:p>
        </p:txBody>
      </p:sp>
      <p:cxnSp>
        <p:nvCxnSpPr>
          <p:cNvPr id="28" name="Connector 27"/>
          <p:cNvCxnSpPr/>
          <p:nvPr/>
        </p:nvCxnSpPr>
        <p:spPr>
          <a:xfrm flipH="1" flipV="1">
            <a:off x="2446020" y="2532246"/>
            <a:ext cx="1983740" cy="789271"/>
          </a:xfrm>
          <a:prstGeom prst="line">
            <a:avLst/>
          </a:prstGeom>
          <a:ln w="16510">
            <a:solidFill>
              <a:srgbClr val="4357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255010" y="281715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BAC9DC"/>
                </a:solidFill>
                <a:latin typeface="Aptos"/>
              </a:defRPr>
            </a:pPr>
            <a:r>
              <a:t>270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52820" y="3058427"/>
            <a:ext cx="270510" cy="1578543"/>
          </a:xfrm>
          <a:prstGeom prst="line">
            <a:avLst/>
          </a:prstGeom>
          <a:ln w="16510">
            <a:solidFill>
              <a:srgbClr val="4357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005194" y="373797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BAC9DC"/>
                </a:solidFill>
                <a:latin typeface="Aptos"/>
              </a:defRPr>
            </a:pPr>
            <a:r>
              <a:t>270</a:t>
            </a:r>
          </a:p>
        </p:txBody>
      </p:sp>
      <p:cxnSp>
        <p:nvCxnSpPr>
          <p:cNvPr id="32" name="Connector 31"/>
          <p:cNvCxnSpPr/>
          <p:nvPr/>
        </p:nvCxnSpPr>
        <p:spPr>
          <a:xfrm flipH="1" flipV="1">
            <a:off x="2446020" y="2532246"/>
            <a:ext cx="3606800" cy="526181"/>
          </a:xfrm>
          <a:prstGeom prst="line">
            <a:avLst/>
          </a:prstGeom>
          <a:ln w="16510">
            <a:solidFill>
              <a:srgbClr val="4357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066539" y="268560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BAC9DC"/>
                </a:solidFill>
                <a:latin typeface="Aptos"/>
              </a:defRPr>
            </a:pPr>
            <a:r>
              <a:t>430</a:t>
            </a:r>
          </a:p>
        </p:txBody>
      </p:sp>
      <p:cxnSp>
        <p:nvCxnSpPr>
          <p:cNvPr id="34" name="Connector 33"/>
          <p:cNvCxnSpPr/>
          <p:nvPr/>
        </p:nvCxnSpPr>
        <p:spPr>
          <a:xfrm flipH="1" flipV="1">
            <a:off x="3978910" y="4373880"/>
            <a:ext cx="270510" cy="1118134"/>
          </a:xfrm>
          <a:prstGeom prst="line">
            <a:avLst/>
          </a:prstGeom>
          <a:ln w="16510">
            <a:solidFill>
              <a:srgbClr val="4357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3931284" y="4823219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BAC9DC"/>
                </a:solidFill>
                <a:latin typeface="Aptos"/>
              </a:defRPr>
            </a:pPr>
            <a:r>
              <a:t>190</a:t>
            </a:r>
          </a:p>
        </p:txBody>
      </p:sp>
      <p:cxnSp>
        <p:nvCxnSpPr>
          <p:cNvPr id="36" name="Connector 35"/>
          <p:cNvCxnSpPr/>
          <p:nvPr/>
        </p:nvCxnSpPr>
        <p:spPr>
          <a:xfrm flipV="1">
            <a:off x="4249420" y="4636970"/>
            <a:ext cx="2073910" cy="855044"/>
          </a:xfrm>
          <a:prstGeom prst="line">
            <a:avLst/>
          </a:prstGeom>
          <a:ln w="16510">
            <a:solidFill>
              <a:srgbClr val="4357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103495" y="495476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BAC9DC"/>
                </a:solidFill>
                <a:latin typeface="Aptos"/>
              </a:defRPr>
            </a:pPr>
            <a:r>
              <a:t>290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3978910" y="4373880"/>
            <a:ext cx="2344420" cy="263090"/>
          </a:xfrm>
          <a:prstGeom prst="line">
            <a:avLst/>
          </a:prstGeom>
          <a:ln w="16510">
            <a:solidFill>
              <a:srgbClr val="4357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4968239" y="4395697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BAC9DC"/>
                </a:solidFill>
                <a:latin typeface="Aptos"/>
              </a:defRPr>
            </a:pPr>
            <a:r>
              <a:t>280</a:t>
            </a:r>
          </a:p>
        </p:txBody>
      </p:sp>
      <p:sp>
        <p:nvSpPr>
          <p:cNvPr id="40" name="Oval 39"/>
          <p:cNvSpPr/>
          <p:nvPr/>
        </p:nvSpPr>
        <p:spPr>
          <a:xfrm>
            <a:off x="2936747" y="4915541"/>
            <a:ext cx="100584" cy="100584"/>
          </a:xfrm>
          <a:prstGeom prst="ellipse">
            <a:avLst/>
          </a:prstGeom>
          <a:solidFill>
            <a:srgbClr val="6B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319527" y="4618361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E9F0FB"/>
                </a:solidFill>
                <a:latin typeface="Aptos"/>
              </a:defRPr>
            </a:pPr>
            <a:r>
              <a:t>Academic Block</a:t>
            </a:r>
          </a:p>
        </p:txBody>
      </p:sp>
      <p:sp>
        <p:nvSpPr>
          <p:cNvPr id="42" name="Oval 41"/>
          <p:cNvSpPr/>
          <p:nvPr/>
        </p:nvSpPr>
        <p:spPr>
          <a:xfrm>
            <a:off x="1674368" y="5047086"/>
            <a:ext cx="100584" cy="100584"/>
          </a:xfrm>
          <a:prstGeom prst="ellipse">
            <a:avLst/>
          </a:prstGeom>
          <a:solidFill>
            <a:srgbClr val="6B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7148" y="4749906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E9F0FB"/>
                </a:solidFill>
                <a:latin typeface="Aptos"/>
              </a:defRPr>
            </a:pPr>
            <a:r>
              <a:t>Administrative Block</a:t>
            </a:r>
          </a:p>
        </p:txBody>
      </p:sp>
      <p:sp>
        <p:nvSpPr>
          <p:cNvPr id="44" name="Oval 43"/>
          <p:cNvSpPr/>
          <p:nvPr/>
        </p:nvSpPr>
        <p:spPr>
          <a:xfrm>
            <a:off x="2395727" y="3731634"/>
            <a:ext cx="100584" cy="100584"/>
          </a:xfrm>
          <a:prstGeom prst="ellipse">
            <a:avLst/>
          </a:prstGeom>
          <a:solidFill>
            <a:srgbClr val="6B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778507" y="3434454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E9F0FB"/>
                </a:solidFill>
                <a:latin typeface="Aptos"/>
              </a:defRPr>
            </a:pPr>
            <a:r>
              <a:t>Auditorium</a:t>
            </a:r>
          </a:p>
        </p:txBody>
      </p:sp>
      <p:sp>
        <p:nvSpPr>
          <p:cNvPr id="46" name="Oval 45"/>
          <p:cNvSpPr/>
          <p:nvPr/>
        </p:nvSpPr>
        <p:spPr>
          <a:xfrm>
            <a:off x="4379468" y="3271225"/>
            <a:ext cx="100584" cy="100584"/>
          </a:xfrm>
          <a:prstGeom prst="ellipse">
            <a:avLst/>
          </a:prstGeom>
          <a:solidFill>
            <a:srgbClr val="6B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762248" y="2974045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E9F0FB"/>
                </a:solidFill>
                <a:latin typeface="Aptos"/>
              </a:defRPr>
            </a:pPr>
            <a:r>
              <a:t>Canteen</a:t>
            </a:r>
          </a:p>
        </p:txBody>
      </p:sp>
      <p:sp>
        <p:nvSpPr>
          <p:cNvPr id="48" name="Oval 47"/>
          <p:cNvSpPr/>
          <p:nvPr/>
        </p:nvSpPr>
        <p:spPr>
          <a:xfrm>
            <a:off x="6002528" y="3008135"/>
            <a:ext cx="100584" cy="100584"/>
          </a:xfrm>
          <a:prstGeom prst="ellipse">
            <a:avLst/>
          </a:prstGeom>
          <a:solidFill>
            <a:srgbClr val="6B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385308" y="2710955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E9F0FB"/>
                </a:solidFill>
                <a:latin typeface="Aptos"/>
              </a:defRPr>
            </a:pPr>
            <a:r>
              <a:t>Hostel</a:t>
            </a:r>
          </a:p>
        </p:txBody>
      </p:sp>
      <p:sp>
        <p:nvSpPr>
          <p:cNvPr id="50" name="Oval 49"/>
          <p:cNvSpPr/>
          <p:nvPr/>
        </p:nvSpPr>
        <p:spPr>
          <a:xfrm>
            <a:off x="4199128" y="5441722"/>
            <a:ext cx="100584" cy="100584"/>
          </a:xfrm>
          <a:prstGeom prst="ellipse">
            <a:avLst/>
          </a:prstGeom>
          <a:solidFill>
            <a:srgbClr val="6B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81908" y="5144542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E9F0FB"/>
                </a:solidFill>
                <a:latin typeface="Aptos"/>
              </a:defRPr>
            </a:pPr>
            <a:r>
              <a:t>Laboratory</a:t>
            </a:r>
          </a:p>
        </p:txBody>
      </p:sp>
      <p:sp>
        <p:nvSpPr>
          <p:cNvPr id="52" name="Oval 51"/>
          <p:cNvSpPr/>
          <p:nvPr/>
        </p:nvSpPr>
        <p:spPr>
          <a:xfrm>
            <a:off x="3928618" y="4323588"/>
            <a:ext cx="100584" cy="100584"/>
          </a:xfrm>
          <a:prstGeom prst="ellipse">
            <a:avLst/>
          </a:prstGeom>
          <a:solidFill>
            <a:srgbClr val="6B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311398" y="4026408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E9F0FB"/>
                </a:solidFill>
                <a:latin typeface="Aptos"/>
              </a:defRPr>
            </a:pPr>
            <a:r>
              <a:t>Library</a:t>
            </a:r>
          </a:p>
        </p:txBody>
      </p:sp>
      <p:sp>
        <p:nvSpPr>
          <p:cNvPr id="54" name="Oval 53"/>
          <p:cNvSpPr/>
          <p:nvPr/>
        </p:nvSpPr>
        <p:spPr>
          <a:xfrm>
            <a:off x="772668" y="5573268"/>
            <a:ext cx="100584" cy="100584"/>
          </a:xfrm>
          <a:prstGeom prst="ellipse">
            <a:avLst/>
          </a:prstGeom>
          <a:solidFill>
            <a:srgbClr val="6B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55448" y="5276088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E9F0FB"/>
                </a:solidFill>
                <a:latin typeface="Aptos"/>
              </a:defRPr>
            </a:pPr>
            <a:r>
              <a:t>Main Gate</a:t>
            </a:r>
          </a:p>
        </p:txBody>
      </p:sp>
      <p:sp>
        <p:nvSpPr>
          <p:cNvPr id="56" name="Oval 55"/>
          <p:cNvSpPr/>
          <p:nvPr/>
        </p:nvSpPr>
        <p:spPr>
          <a:xfrm>
            <a:off x="6273038" y="4586678"/>
            <a:ext cx="100584" cy="100584"/>
          </a:xfrm>
          <a:prstGeom prst="ellipse">
            <a:avLst/>
          </a:prstGeom>
          <a:solidFill>
            <a:srgbClr val="6B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655818" y="4289498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E9F0FB"/>
                </a:solidFill>
                <a:latin typeface="Aptos"/>
              </a:defRPr>
            </a:pPr>
            <a:r>
              <a:t>Medical Centre</a:t>
            </a:r>
          </a:p>
        </p:txBody>
      </p:sp>
      <p:sp>
        <p:nvSpPr>
          <p:cNvPr id="58" name="Oval 57"/>
          <p:cNvSpPr/>
          <p:nvPr/>
        </p:nvSpPr>
        <p:spPr>
          <a:xfrm>
            <a:off x="2395727" y="2481954"/>
            <a:ext cx="100584" cy="100584"/>
          </a:xfrm>
          <a:prstGeom prst="ellipse">
            <a:avLst/>
          </a:prstGeom>
          <a:solidFill>
            <a:srgbClr val="6B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778507" y="2184774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E9F0FB"/>
                </a:solidFill>
                <a:latin typeface="Aptos"/>
              </a:defRPr>
            </a:pPr>
            <a:r>
              <a:t>Sports Ground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46720" y="1920240"/>
            <a:ext cx="3566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35D9C0"/>
                </a:solidFill>
                <a:latin typeface="Aptos"/>
              </a:defRPr>
            </a:pPr>
            <a:r>
              <a:t>Main Gate → Academic Block: 300 m</a:t>
            </a:r>
          </a:p>
          <a:p>
            <a:pPr>
              <a:spcAft>
                <a:spcPts val="1200"/>
              </a:spcAft>
              <a:defRPr sz="1800" b="0">
                <a:solidFill>
                  <a:srgbClr val="35D9C0"/>
                </a:solidFill>
                <a:latin typeface="Aptos"/>
              </a:defRPr>
            </a:pPr>
            <a:r>
              <a:t>Academic Block → Library: 150 m</a:t>
            </a:r>
          </a:p>
          <a:p>
            <a:pPr>
              <a:spcAft>
                <a:spcPts val="1200"/>
              </a:spcAft>
              <a:defRPr sz="1800" b="0">
                <a:solidFill>
                  <a:srgbClr val="35D9C0"/>
                </a:solidFill>
                <a:latin typeface="Aptos"/>
              </a:defRPr>
            </a:pPr>
            <a:r>
              <a:t>Library → Canteen: 180 m</a:t>
            </a:r>
          </a:p>
          <a:p>
            <a:pPr>
              <a:spcAft>
                <a:spcPts val="1200"/>
              </a:spcAft>
              <a:defRPr sz="1800" b="0">
                <a:solidFill>
                  <a:srgbClr val="35D9C0"/>
                </a:solidFill>
                <a:latin typeface="Aptos"/>
              </a:defRPr>
            </a:pPr>
            <a:r>
              <a:t>Canteen → Hostel: 200 m</a:t>
            </a:r>
          </a:p>
          <a:p>
            <a:pPr>
              <a:spcAft>
                <a:spcPts val="1200"/>
              </a:spcAft>
              <a:defRPr sz="1800" b="0">
                <a:solidFill>
                  <a:srgbClr val="35D9C0"/>
                </a:solidFill>
                <a:latin typeface="Aptos"/>
              </a:defRPr>
            </a:pPr>
            <a:r>
              <a:t>Total: 830 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" y="5943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0">
                <a:solidFill>
                  <a:srgbClr val="B8CBE4"/>
                </a:solidFill>
                <a:latin typeface="Aptos"/>
              </a:defRPr>
            </a:pPr>
            <a:r>
              <a:t>Nearest unsettled first. Relax neighbors. Record parents. Nonnegative weights make settling safe.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35D9C0"/>
                </a:solidFill>
                <a:latin typeface="Aptos"/>
              </a:defRPr>
            </a:pPr>
            <a:r>
              <a:t>SMART CAMPUS / ALGORITHM STUDIO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E9F0FB"/>
                </a:solidFill>
                <a:latin typeface="Aptos"/>
              </a:defRPr>
            </a:pPr>
            <a:r>
              <a:t>Explore layers; compare every pair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9224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91A4BC"/>
                </a:solidFill>
                <a:latin typeface="Aptos"/>
              </a:defRPr>
            </a:pPr>
            <a:r>
              <a:t>01AI0506 · Fictional campus · Distances in metres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9224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91A4BC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828800"/>
            <a:ext cx="5394960" cy="3566160"/>
          </a:xfrm>
          <a:prstGeom prst="roundRect">
            <a:avLst/>
          </a:prstGeom>
          <a:solidFill>
            <a:srgbClr val="142238"/>
          </a:solidFill>
          <a:ln>
            <a:solidFill>
              <a:srgbClr val="2B4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2011680"/>
            <a:ext cx="49926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35D9C0"/>
                </a:solidFill>
                <a:latin typeface="Aptos"/>
              </a:defRPr>
            </a:pPr>
            <a:r>
              <a:t>BFS and DFS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651760"/>
            <a:ext cx="4992624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E9F0FB"/>
                </a:solidFill>
                <a:latin typeface="Aptos"/>
              </a:defRPr>
            </a:pPr>
            <a:r>
              <a:t>BFS: FIFO queue; minimum unweighted hops.</a:t>
            </a:r>
          </a:p>
          <a:p>
            <a:pPr>
              <a:spcAft>
                <a:spcPts val="1200"/>
              </a:spcAft>
              <a:defRPr sz="1900" b="0">
                <a:solidFill>
                  <a:srgbClr val="E9F0FB"/>
                </a:solidFill>
                <a:latin typeface="Aptos"/>
              </a:defRPr>
            </a:pPr>
            <a:r>
              <a:t>DFS: stack frames; finish a branch, then backtrack.</a:t>
            </a:r>
          </a:p>
          <a:p>
            <a:pPr>
              <a:spcAft>
                <a:spcPts val="1200"/>
              </a:spcAft>
              <a:defRPr sz="1900" b="0">
                <a:solidFill>
                  <a:srgbClr val="E9F0FB"/>
                </a:solidFill>
                <a:latin typeface="Aptos"/>
              </a:defRPr>
            </a:pPr>
            <a:r>
              <a:t>Neither optimizes walking metres.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828800"/>
            <a:ext cx="5394960" cy="3566160"/>
          </a:xfrm>
          <a:prstGeom prst="roundRect">
            <a:avLst/>
          </a:prstGeom>
          <a:solidFill>
            <a:srgbClr val="142238"/>
          </a:solidFill>
          <a:ln>
            <a:solidFill>
              <a:srgbClr val="2B4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9088" y="2011680"/>
            <a:ext cx="49926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35D9C0"/>
                </a:solidFill>
                <a:latin typeface="Aptos"/>
              </a:defRPr>
            </a:pPr>
            <a:r>
              <a:t>Floyd-Warshall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9088" y="2651760"/>
            <a:ext cx="4992624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E9F0FB"/>
                </a:solidFill>
                <a:latin typeface="Aptos"/>
              </a:defRPr>
            </a:pPr>
            <a:r>
              <a:t>Allow one intermediate k at a time.</a:t>
            </a:r>
          </a:p>
          <a:p>
            <a:pPr>
              <a:spcAft>
                <a:spcPts val="1200"/>
              </a:spcAft>
              <a:defRPr sz="1900" b="0">
                <a:solidFill>
                  <a:srgbClr val="E9F0FB"/>
                </a:solidFill>
                <a:latin typeface="Aptos"/>
              </a:defRPr>
            </a:pPr>
            <a:r>
              <a:t>d[i,j] = min(d[i,j], d[i,k] + d[k,j])</a:t>
            </a:r>
          </a:p>
          <a:p>
            <a:pPr>
              <a:spcAft>
                <a:spcPts val="1200"/>
              </a:spcAft>
              <a:defRPr sz="1900" b="0">
                <a:solidFill>
                  <a:srgbClr val="E9F0FB"/>
                </a:solidFill>
                <a:latin typeface="Aptos"/>
              </a:defRPr>
            </a:pPr>
            <a:r>
              <a:t>Next-hop table reconstructs the route.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6235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F5C769"/>
                </a:solidFill>
                <a:latin typeface="Aptos"/>
              </a:defRPr>
            </a:pPr>
            <a:r>
              <a:t>Triangle: A–B=2, B–C=1, A–C=5. One hop costs 5; the best weighted route costs 3.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35D9C0"/>
                </a:solidFill>
                <a:latin typeface="Aptos"/>
              </a:defRPr>
            </a:pPr>
            <a:r>
              <a:t>SMART CAMPUS / ALGORITHM STUDIO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E9F0FB"/>
                </a:solidFill>
                <a:latin typeface="Aptos"/>
              </a:defRPr>
            </a:pPr>
            <a:r>
              <a:t>Minimum network: 1,690 metres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9224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91A4BC"/>
                </a:solidFill>
                <a:latin typeface="Aptos"/>
              </a:defRPr>
            </a:pPr>
            <a:r>
              <a:t>01AI0506 · Fictional campus · Distances in metres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9224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91A4BC"/>
                </a:solidFill>
                <a:latin typeface="Aptos"/>
              </a:defRPr>
            </a:pPr>
            <a:r>
              <a:t>08</a:t>
            </a:r>
          </a:p>
        </p:txBody>
      </p:sp>
      <p:cxnSp>
        <p:nvCxnSpPr>
          <p:cNvPr id="6" name="Connector 5"/>
          <p:cNvCxnSpPr/>
          <p:nvPr/>
        </p:nvCxnSpPr>
        <p:spPr>
          <a:xfrm flipH="1">
            <a:off x="1724660" y="4995511"/>
            <a:ext cx="1262379" cy="134754"/>
          </a:xfrm>
          <a:prstGeom prst="line">
            <a:avLst/>
          </a:prstGeom>
          <a:ln w="38100">
            <a:solidFill>
              <a:srgbClr val="35D9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172969" y="49531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BAC9DC"/>
                </a:solidFill>
                <a:latin typeface="Aptos"/>
              </a:defRPr>
            </a:pPr>
            <a:r>
              <a:t>160</a:t>
            </a:r>
          </a:p>
        </p:txBody>
      </p:sp>
      <p:cxnSp>
        <p:nvCxnSpPr>
          <p:cNvPr id="8" name="Connector 7"/>
          <p:cNvCxnSpPr/>
          <p:nvPr/>
        </p:nvCxnSpPr>
        <p:spPr>
          <a:xfrm flipH="1" flipV="1">
            <a:off x="2446020" y="3782728"/>
            <a:ext cx="541019" cy="1212783"/>
          </a:xfrm>
          <a:prstGeom prst="line">
            <a:avLst/>
          </a:prstGeom>
          <a:ln w="38100">
            <a:solidFill>
              <a:srgbClr val="35D9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533649" y="427939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BAC9DC"/>
                </a:solidFill>
                <a:latin typeface="Aptos"/>
              </a:defRPr>
            </a:pPr>
            <a:r>
              <a:t>210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987039" y="4995511"/>
            <a:ext cx="1262381" cy="539015"/>
          </a:xfrm>
          <a:prstGeom prst="line">
            <a:avLst/>
          </a:prstGeom>
          <a:ln w="38100">
            <a:solidFill>
              <a:srgbClr val="35D9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435349" y="515529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BAC9DC"/>
                </a:solidFill>
                <a:latin typeface="Aptos"/>
              </a:defRPr>
            </a:pPr>
            <a:r>
              <a:t>170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2987039" y="4389119"/>
            <a:ext cx="991871" cy="606392"/>
          </a:xfrm>
          <a:prstGeom prst="line">
            <a:avLst/>
          </a:prstGeom>
          <a:ln w="38100">
            <a:solidFill>
              <a:srgbClr val="35D9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300094" y="4582587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BAC9DC"/>
                </a:solidFill>
                <a:latin typeface="Aptos"/>
              </a:defRPr>
            </a:pPr>
            <a:r>
              <a:t>150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822960" y="4995511"/>
            <a:ext cx="2164079" cy="673768"/>
          </a:xfrm>
          <a:prstGeom prst="line">
            <a:avLst/>
          </a:prstGeom>
          <a:ln w="16510">
            <a:solidFill>
              <a:srgbClr val="4357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722119" y="5222667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BAC9DC"/>
                </a:solidFill>
                <a:latin typeface="Aptos"/>
              </a:defRPr>
            </a:pPr>
            <a:r>
              <a:t>300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1724660" y="3782728"/>
            <a:ext cx="721360" cy="1347537"/>
          </a:xfrm>
          <a:prstGeom prst="line">
            <a:avLst/>
          </a:prstGeom>
          <a:ln w="16510">
            <a:solidFill>
              <a:srgbClr val="4357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902459" y="434676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BAC9DC"/>
                </a:solidFill>
                <a:latin typeface="Aptos"/>
              </a:defRPr>
            </a:pPr>
            <a:r>
              <a:t>240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822960" y="5130265"/>
            <a:ext cx="901700" cy="539014"/>
          </a:xfrm>
          <a:prstGeom prst="line">
            <a:avLst/>
          </a:prstGeom>
          <a:ln w="38100">
            <a:solidFill>
              <a:srgbClr val="35D9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90930" y="529004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BAC9DC"/>
                </a:solidFill>
                <a:latin typeface="Aptos"/>
              </a:defRPr>
            </a:pPr>
            <a:r>
              <a:t>140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2446020" y="3311090"/>
            <a:ext cx="1983740" cy="471638"/>
          </a:xfrm>
          <a:prstGeom prst="line">
            <a:avLst/>
          </a:prstGeom>
          <a:ln w="16510">
            <a:solidFill>
              <a:srgbClr val="4357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255010" y="3437181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BAC9DC"/>
                </a:solidFill>
                <a:latin typeface="Aptos"/>
              </a:defRPr>
            </a:pPr>
            <a:r>
              <a:t>260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2446020" y="2502568"/>
            <a:ext cx="0" cy="1280160"/>
          </a:xfrm>
          <a:prstGeom prst="line">
            <a:avLst/>
          </a:prstGeom>
          <a:ln w="38100">
            <a:solidFill>
              <a:srgbClr val="35D9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263139" y="303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BAC9DC"/>
                </a:solidFill>
                <a:latin typeface="Aptos"/>
              </a:defRPr>
            </a:pPr>
            <a:r>
              <a:t>210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4429760" y="3041583"/>
            <a:ext cx="1623060" cy="269507"/>
          </a:xfrm>
          <a:prstGeom prst="line">
            <a:avLst/>
          </a:prstGeom>
          <a:ln w="38100">
            <a:solidFill>
              <a:srgbClr val="35D9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058410" y="306660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BAC9DC"/>
                </a:solidFill>
                <a:latin typeface="Aptos"/>
              </a:defRPr>
            </a:pPr>
            <a:r>
              <a:t>200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3978910" y="3311090"/>
            <a:ext cx="450850" cy="1078029"/>
          </a:xfrm>
          <a:prstGeom prst="line">
            <a:avLst/>
          </a:prstGeom>
          <a:ln w="38100">
            <a:solidFill>
              <a:srgbClr val="35D9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021454" y="3740377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BAC9DC"/>
                </a:solidFill>
                <a:latin typeface="Aptos"/>
              </a:defRPr>
            </a:pPr>
            <a:r>
              <a:t>180</a:t>
            </a:r>
          </a:p>
        </p:txBody>
      </p:sp>
      <p:cxnSp>
        <p:nvCxnSpPr>
          <p:cNvPr id="28" name="Connector 27"/>
          <p:cNvCxnSpPr/>
          <p:nvPr/>
        </p:nvCxnSpPr>
        <p:spPr>
          <a:xfrm flipH="1" flipV="1">
            <a:off x="2446020" y="2502568"/>
            <a:ext cx="1983740" cy="808522"/>
          </a:xfrm>
          <a:prstGeom prst="line">
            <a:avLst/>
          </a:prstGeom>
          <a:ln w="16510">
            <a:solidFill>
              <a:srgbClr val="4357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255010" y="2797101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BAC9DC"/>
                </a:solidFill>
                <a:latin typeface="Aptos"/>
              </a:defRPr>
            </a:pPr>
            <a:r>
              <a:t>270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52820" y="3041583"/>
            <a:ext cx="270510" cy="1617044"/>
          </a:xfrm>
          <a:prstGeom prst="line">
            <a:avLst/>
          </a:prstGeom>
          <a:ln w="38100">
            <a:solidFill>
              <a:srgbClr val="35D9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005194" y="3740377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BAC9DC"/>
                </a:solidFill>
                <a:latin typeface="Aptos"/>
              </a:defRPr>
            </a:pPr>
            <a:r>
              <a:t>270</a:t>
            </a:r>
          </a:p>
        </p:txBody>
      </p:sp>
      <p:cxnSp>
        <p:nvCxnSpPr>
          <p:cNvPr id="32" name="Connector 31"/>
          <p:cNvCxnSpPr/>
          <p:nvPr/>
        </p:nvCxnSpPr>
        <p:spPr>
          <a:xfrm flipH="1" flipV="1">
            <a:off x="2446020" y="2502568"/>
            <a:ext cx="3606800" cy="539015"/>
          </a:xfrm>
          <a:prstGeom prst="line">
            <a:avLst/>
          </a:prstGeom>
          <a:ln w="16510">
            <a:solidFill>
              <a:srgbClr val="4357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066539" y="2662347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BAC9DC"/>
                </a:solidFill>
                <a:latin typeface="Aptos"/>
              </a:defRPr>
            </a:pPr>
            <a:r>
              <a:t>430</a:t>
            </a:r>
          </a:p>
        </p:txBody>
      </p:sp>
      <p:cxnSp>
        <p:nvCxnSpPr>
          <p:cNvPr id="34" name="Connector 33"/>
          <p:cNvCxnSpPr/>
          <p:nvPr/>
        </p:nvCxnSpPr>
        <p:spPr>
          <a:xfrm flipH="1" flipV="1">
            <a:off x="3978910" y="4389119"/>
            <a:ext cx="270510" cy="1145407"/>
          </a:xfrm>
          <a:prstGeom prst="line">
            <a:avLst/>
          </a:prstGeom>
          <a:ln w="16510">
            <a:solidFill>
              <a:srgbClr val="4357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3931284" y="4852095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BAC9DC"/>
                </a:solidFill>
                <a:latin typeface="Aptos"/>
              </a:defRPr>
            </a:pPr>
            <a:r>
              <a:t>190</a:t>
            </a:r>
          </a:p>
        </p:txBody>
      </p:sp>
      <p:cxnSp>
        <p:nvCxnSpPr>
          <p:cNvPr id="36" name="Connector 35"/>
          <p:cNvCxnSpPr/>
          <p:nvPr/>
        </p:nvCxnSpPr>
        <p:spPr>
          <a:xfrm flipV="1">
            <a:off x="4249420" y="4658627"/>
            <a:ext cx="2073910" cy="875899"/>
          </a:xfrm>
          <a:prstGeom prst="line">
            <a:avLst/>
          </a:prstGeom>
          <a:ln w="16510">
            <a:solidFill>
              <a:srgbClr val="4357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103495" y="498684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BAC9DC"/>
                </a:solidFill>
                <a:latin typeface="Aptos"/>
              </a:defRPr>
            </a:pPr>
            <a:r>
              <a:t>290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3978910" y="4389119"/>
            <a:ext cx="2344420" cy="269508"/>
          </a:xfrm>
          <a:prstGeom prst="line">
            <a:avLst/>
          </a:prstGeom>
          <a:ln w="16510">
            <a:solidFill>
              <a:srgbClr val="4357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4968239" y="4414145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BAC9DC"/>
                </a:solidFill>
                <a:latin typeface="Aptos"/>
              </a:defRPr>
            </a:pPr>
            <a:r>
              <a:t>280</a:t>
            </a:r>
          </a:p>
        </p:txBody>
      </p:sp>
      <p:sp>
        <p:nvSpPr>
          <p:cNvPr id="40" name="Oval 39"/>
          <p:cNvSpPr/>
          <p:nvPr/>
        </p:nvSpPr>
        <p:spPr>
          <a:xfrm>
            <a:off x="2936747" y="4945219"/>
            <a:ext cx="100584" cy="100584"/>
          </a:xfrm>
          <a:prstGeom prst="ellipse">
            <a:avLst/>
          </a:prstGeom>
          <a:solidFill>
            <a:srgbClr val="6B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319527" y="4648039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E9F0FB"/>
                </a:solidFill>
                <a:latin typeface="Aptos"/>
              </a:defRPr>
            </a:pPr>
            <a:r>
              <a:t>Academic Block</a:t>
            </a:r>
          </a:p>
        </p:txBody>
      </p:sp>
      <p:sp>
        <p:nvSpPr>
          <p:cNvPr id="42" name="Oval 41"/>
          <p:cNvSpPr/>
          <p:nvPr/>
        </p:nvSpPr>
        <p:spPr>
          <a:xfrm>
            <a:off x="1674368" y="5079973"/>
            <a:ext cx="100584" cy="100584"/>
          </a:xfrm>
          <a:prstGeom prst="ellipse">
            <a:avLst/>
          </a:prstGeom>
          <a:solidFill>
            <a:srgbClr val="6B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7148" y="4782793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E9F0FB"/>
                </a:solidFill>
                <a:latin typeface="Aptos"/>
              </a:defRPr>
            </a:pPr>
            <a:r>
              <a:t>Administrative Block</a:t>
            </a:r>
          </a:p>
        </p:txBody>
      </p:sp>
      <p:sp>
        <p:nvSpPr>
          <p:cNvPr id="44" name="Oval 43"/>
          <p:cNvSpPr/>
          <p:nvPr/>
        </p:nvSpPr>
        <p:spPr>
          <a:xfrm>
            <a:off x="2395727" y="3732436"/>
            <a:ext cx="100584" cy="100584"/>
          </a:xfrm>
          <a:prstGeom prst="ellipse">
            <a:avLst/>
          </a:prstGeom>
          <a:solidFill>
            <a:srgbClr val="6B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778507" y="3435256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E9F0FB"/>
                </a:solidFill>
                <a:latin typeface="Aptos"/>
              </a:defRPr>
            </a:pPr>
            <a:r>
              <a:t>Auditorium</a:t>
            </a:r>
          </a:p>
        </p:txBody>
      </p:sp>
      <p:sp>
        <p:nvSpPr>
          <p:cNvPr id="46" name="Oval 45"/>
          <p:cNvSpPr/>
          <p:nvPr/>
        </p:nvSpPr>
        <p:spPr>
          <a:xfrm>
            <a:off x="4379468" y="3260798"/>
            <a:ext cx="100584" cy="100584"/>
          </a:xfrm>
          <a:prstGeom prst="ellipse">
            <a:avLst/>
          </a:prstGeom>
          <a:solidFill>
            <a:srgbClr val="6B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762248" y="2963618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E9F0FB"/>
                </a:solidFill>
                <a:latin typeface="Aptos"/>
              </a:defRPr>
            </a:pPr>
            <a:r>
              <a:t>Canteen</a:t>
            </a:r>
          </a:p>
        </p:txBody>
      </p:sp>
      <p:sp>
        <p:nvSpPr>
          <p:cNvPr id="48" name="Oval 47"/>
          <p:cNvSpPr/>
          <p:nvPr/>
        </p:nvSpPr>
        <p:spPr>
          <a:xfrm>
            <a:off x="6002528" y="2991291"/>
            <a:ext cx="100584" cy="100584"/>
          </a:xfrm>
          <a:prstGeom prst="ellipse">
            <a:avLst/>
          </a:prstGeom>
          <a:solidFill>
            <a:srgbClr val="6B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385308" y="2694111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E9F0FB"/>
                </a:solidFill>
                <a:latin typeface="Aptos"/>
              </a:defRPr>
            </a:pPr>
            <a:r>
              <a:t>Hostel</a:t>
            </a:r>
          </a:p>
        </p:txBody>
      </p:sp>
      <p:sp>
        <p:nvSpPr>
          <p:cNvPr id="50" name="Oval 49"/>
          <p:cNvSpPr/>
          <p:nvPr/>
        </p:nvSpPr>
        <p:spPr>
          <a:xfrm>
            <a:off x="4199128" y="5484234"/>
            <a:ext cx="100584" cy="100584"/>
          </a:xfrm>
          <a:prstGeom prst="ellipse">
            <a:avLst/>
          </a:prstGeom>
          <a:solidFill>
            <a:srgbClr val="6B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81908" y="5187054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E9F0FB"/>
                </a:solidFill>
                <a:latin typeface="Aptos"/>
              </a:defRPr>
            </a:pPr>
            <a:r>
              <a:t>Laboratory</a:t>
            </a:r>
          </a:p>
        </p:txBody>
      </p:sp>
      <p:sp>
        <p:nvSpPr>
          <p:cNvPr id="52" name="Oval 51"/>
          <p:cNvSpPr/>
          <p:nvPr/>
        </p:nvSpPr>
        <p:spPr>
          <a:xfrm>
            <a:off x="3928618" y="4338827"/>
            <a:ext cx="100584" cy="100584"/>
          </a:xfrm>
          <a:prstGeom prst="ellipse">
            <a:avLst/>
          </a:prstGeom>
          <a:solidFill>
            <a:srgbClr val="6B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311398" y="4041647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E9F0FB"/>
                </a:solidFill>
                <a:latin typeface="Aptos"/>
              </a:defRPr>
            </a:pPr>
            <a:r>
              <a:t>Library</a:t>
            </a:r>
          </a:p>
        </p:txBody>
      </p:sp>
      <p:sp>
        <p:nvSpPr>
          <p:cNvPr id="54" name="Oval 53"/>
          <p:cNvSpPr/>
          <p:nvPr/>
        </p:nvSpPr>
        <p:spPr>
          <a:xfrm>
            <a:off x="772668" y="5618988"/>
            <a:ext cx="100584" cy="100584"/>
          </a:xfrm>
          <a:prstGeom prst="ellipse">
            <a:avLst/>
          </a:prstGeom>
          <a:solidFill>
            <a:srgbClr val="6B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55448" y="5321807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E9F0FB"/>
                </a:solidFill>
                <a:latin typeface="Aptos"/>
              </a:defRPr>
            </a:pPr>
            <a:r>
              <a:t>Main Gate</a:t>
            </a:r>
          </a:p>
        </p:txBody>
      </p:sp>
      <p:sp>
        <p:nvSpPr>
          <p:cNvPr id="56" name="Oval 55"/>
          <p:cNvSpPr/>
          <p:nvPr/>
        </p:nvSpPr>
        <p:spPr>
          <a:xfrm>
            <a:off x="6273038" y="4608335"/>
            <a:ext cx="100584" cy="100584"/>
          </a:xfrm>
          <a:prstGeom prst="ellipse">
            <a:avLst/>
          </a:prstGeom>
          <a:solidFill>
            <a:srgbClr val="6B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655818" y="4311155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E9F0FB"/>
                </a:solidFill>
                <a:latin typeface="Aptos"/>
              </a:defRPr>
            </a:pPr>
            <a:r>
              <a:t>Medical Centre</a:t>
            </a:r>
          </a:p>
        </p:txBody>
      </p:sp>
      <p:sp>
        <p:nvSpPr>
          <p:cNvPr id="58" name="Oval 57"/>
          <p:cNvSpPr/>
          <p:nvPr/>
        </p:nvSpPr>
        <p:spPr>
          <a:xfrm>
            <a:off x="2395727" y="2452276"/>
            <a:ext cx="100584" cy="100584"/>
          </a:xfrm>
          <a:prstGeom prst="ellipse">
            <a:avLst/>
          </a:prstGeom>
          <a:solidFill>
            <a:srgbClr val="6B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778507" y="2155096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E9F0FB"/>
                </a:solidFill>
                <a:latin typeface="Aptos"/>
              </a:defRPr>
            </a:pPr>
            <a:r>
              <a:t>Sports Ground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046720" y="1874519"/>
            <a:ext cx="3566160" cy="3474720"/>
          </a:xfrm>
          <a:prstGeom prst="roundRect">
            <a:avLst/>
          </a:prstGeom>
          <a:solidFill>
            <a:srgbClr val="142238"/>
          </a:solidFill>
          <a:ln>
            <a:solidFill>
              <a:srgbClr val="2B4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247888" y="2057400"/>
            <a:ext cx="31638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35D9C0"/>
                </a:solidFill>
                <a:latin typeface="Aptos"/>
              </a:defRPr>
            </a:pPr>
            <a:r>
              <a:t>9 edges / 10 vertices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47888" y="2697479"/>
            <a:ext cx="3163824" cy="2606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E9F0FB"/>
                </a:solidFill>
                <a:latin typeface="Aptos"/>
              </a:defRPr>
            </a:pPr>
            <a:r>
              <a:t>Prim grows a connected patch.</a:t>
            </a:r>
          </a:p>
          <a:p>
            <a:pPr>
              <a:spcAft>
                <a:spcPts val="1200"/>
              </a:spcAft>
              <a:defRPr sz="1900" b="0">
                <a:solidFill>
                  <a:srgbClr val="E9F0FB"/>
                </a:solidFill>
                <a:latin typeface="Aptos"/>
              </a:defRPr>
            </a:pPr>
            <a:r>
              <a:t>Kruskal sorts and joins components.</a:t>
            </a:r>
          </a:p>
          <a:p>
            <a:pPr>
              <a:spcAft>
                <a:spcPts val="1200"/>
              </a:spcAft>
              <a:defRPr sz="1900" b="0">
                <a:solidFill>
                  <a:srgbClr val="E9F0FB"/>
                </a:solidFill>
                <a:latin typeface="Aptos"/>
              </a:defRPr>
            </a:pPr>
            <a:r>
              <a:t>Same optimal total; ties can allow different trees.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1520" y="60350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 b="0">
                <a:solidFill>
                  <a:srgbClr val="F5C769"/>
                </a:solidFill>
                <a:latin typeface="Aptos"/>
              </a:defRPr>
            </a:pPr>
            <a:r>
              <a:t>Main Gate → Auditorium: 380 m shortest route; 510 m along this MST.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35D9C0"/>
                </a:solidFill>
                <a:latin typeface="Aptos"/>
              </a:defRPr>
            </a:pPr>
            <a:r>
              <a:t>SMART CAMPUS / ALGORITHM STUDIO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E9F0FB"/>
                </a:solidFill>
                <a:latin typeface="Aptos"/>
              </a:defRPr>
            </a:pPr>
            <a:r>
              <a:t>Efficiency: explain the growth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9224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91A4BC"/>
                </a:solidFill>
                <a:latin typeface="Aptos"/>
              </a:defRPr>
            </a:pPr>
            <a:r>
              <a:t>01AI0506 · Fictional campus · Distances in metres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9224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91A4BC"/>
                </a:solidFill>
                <a:latin typeface="Aptos"/>
              </a:defRPr>
            </a:pPr>
            <a:r>
              <a:t>09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91640"/>
          <a:ext cx="1078992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6640"/>
                <a:gridCol w="3596640"/>
                <a:gridCol w="3596640"/>
              </a:tblGrid>
              <a:tr h="496388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E9F0FB"/>
                          </a:solidFill>
                        </a:defRPr>
                      </a:pPr>
                      <a:r>
                        <a:t>Algorithm</a:t>
                      </a:r>
                    </a:p>
                  </a:txBody>
                  <a:tcPr>
                    <a:solidFill>
                      <a:srgbClr val="1936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E9F0FB"/>
                          </a:solidFill>
                        </a:defRPr>
                      </a:pPr>
                      <a:r>
                        <a:t>Time</a:t>
                      </a:r>
                    </a:p>
                  </a:txBody>
                  <a:tcPr>
                    <a:solidFill>
                      <a:srgbClr val="1936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E9F0FB"/>
                          </a:solidFill>
                        </a:defRPr>
                      </a:pPr>
                      <a:r>
                        <a:t>Space*</a:t>
                      </a:r>
                    </a:p>
                  </a:txBody>
                  <a:tcPr>
                    <a:solidFill>
                      <a:srgbClr val="19364A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E9F0FB"/>
                          </a:solidFill>
                        </a:defRPr>
                      </a:pPr>
                      <a:r>
                        <a:t>BFS</a:t>
                      </a:r>
                    </a:p>
                  </a:txBody>
                  <a:tcPr>
                    <a:solidFill>
                      <a:srgbClr val="1422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E9F0FB"/>
                          </a:solidFill>
                        </a:defRPr>
                      </a:pPr>
                      <a:r>
                        <a:t>O(V + E)</a:t>
                      </a:r>
                    </a:p>
                  </a:txBody>
                  <a:tcPr>
                    <a:solidFill>
                      <a:srgbClr val="1422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E9F0FB"/>
                          </a:solidFill>
                        </a:defRPr>
                      </a:pPr>
                      <a:r>
                        <a:t>O(V)</a:t>
                      </a:r>
                    </a:p>
                  </a:txBody>
                  <a:tcPr>
                    <a:solidFill>
                      <a:srgbClr val="142238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E9F0FB"/>
                          </a:solidFill>
                        </a:defRPr>
                      </a:pPr>
                      <a:r>
                        <a:t>DFS</a:t>
                      </a:r>
                    </a:p>
                  </a:txBody>
                  <a:tcPr>
                    <a:solidFill>
                      <a:srgbClr val="1422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E9F0FB"/>
                          </a:solidFill>
                        </a:defRPr>
                      </a:pPr>
                      <a:r>
                        <a:t>O(V + E)</a:t>
                      </a:r>
                    </a:p>
                  </a:txBody>
                  <a:tcPr>
                    <a:solidFill>
                      <a:srgbClr val="1422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E9F0FB"/>
                          </a:solidFill>
                        </a:defRPr>
                      </a:pPr>
                      <a:r>
                        <a:t>O(V)</a:t>
                      </a:r>
                    </a:p>
                  </a:txBody>
                  <a:tcPr>
                    <a:solidFill>
                      <a:srgbClr val="142238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E9F0FB"/>
                          </a:solidFill>
                        </a:defRPr>
                      </a:pPr>
                      <a:r>
                        <a:t>Dijkstra</a:t>
                      </a:r>
                    </a:p>
                  </a:txBody>
                  <a:tcPr>
                    <a:solidFill>
                      <a:srgbClr val="1422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E9F0FB"/>
                          </a:solidFill>
                        </a:defRPr>
                      </a:pPr>
                      <a:r>
                        <a:t>O((V + E) log V)</a:t>
                      </a:r>
                    </a:p>
                  </a:txBody>
                  <a:tcPr>
                    <a:solidFill>
                      <a:srgbClr val="1422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E9F0FB"/>
                          </a:solidFill>
                        </a:defRPr>
                      </a:pPr>
                      <a:r>
                        <a:t>O(V + E)</a:t>
                      </a:r>
                    </a:p>
                  </a:txBody>
                  <a:tcPr>
                    <a:solidFill>
                      <a:srgbClr val="142238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E9F0FB"/>
                          </a:solidFill>
                        </a:defRPr>
                      </a:pPr>
                      <a:r>
                        <a:t>Floyd-Warshall</a:t>
                      </a:r>
                    </a:p>
                  </a:txBody>
                  <a:tcPr>
                    <a:solidFill>
                      <a:srgbClr val="1422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E9F0FB"/>
                          </a:solidFill>
                        </a:defRPr>
                      </a:pPr>
                      <a:r>
                        <a:t>O(V³)</a:t>
                      </a:r>
                    </a:p>
                  </a:txBody>
                  <a:tcPr>
                    <a:solidFill>
                      <a:srgbClr val="1422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E9F0FB"/>
                          </a:solidFill>
                        </a:defRPr>
                      </a:pPr>
                      <a:r>
                        <a:t>O(V²)</a:t>
                      </a:r>
                    </a:p>
                  </a:txBody>
                  <a:tcPr>
                    <a:solidFill>
                      <a:srgbClr val="142238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E9F0FB"/>
                          </a:solidFill>
                        </a:defRPr>
                      </a:pPr>
                      <a:r>
                        <a:t>Prim</a:t>
                      </a:r>
                    </a:p>
                  </a:txBody>
                  <a:tcPr>
                    <a:solidFill>
                      <a:srgbClr val="1422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E9F0FB"/>
                          </a:solidFill>
                        </a:defRPr>
                      </a:pPr>
                      <a:r>
                        <a:t>O((V + E) log V)</a:t>
                      </a:r>
                    </a:p>
                  </a:txBody>
                  <a:tcPr>
                    <a:solidFill>
                      <a:srgbClr val="1422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E9F0FB"/>
                          </a:solidFill>
                        </a:defRPr>
                      </a:pPr>
                      <a:r>
                        <a:t>O(V + E)</a:t>
                      </a:r>
                    </a:p>
                  </a:txBody>
                  <a:tcPr>
                    <a:solidFill>
                      <a:srgbClr val="142238"/>
                    </a:solidFill>
                  </a:tcPr>
                </a:tc>
              </a:tr>
              <a:tr h="496392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E9F0FB"/>
                          </a:solidFill>
                        </a:defRPr>
                      </a:pPr>
                      <a:r>
                        <a:t>Kruskal</a:t>
                      </a:r>
                    </a:p>
                  </a:txBody>
                  <a:tcPr>
                    <a:solidFill>
                      <a:srgbClr val="1422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E9F0FB"/>
                          </a:solidFill>
                        </a:defRPr>
                      </a:pPr>
                      <a:r>
                        <a:t>O(V + E log E)</a:t>
                      </a:r>
                    </a:p>
                  </a:txBody>
                  <a:tcPr>
                    <a:solidFill>
                      <a:srgbClr val="1422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E9F0FB"/>
                          </a:solidFill>
                        </a:defRPr>
                      </a:pPr>
                      <a:r>
                        <a:t>O(V + E)</a:t>
                      </a:r>
                    </a:p>
                  </a:txBody>
                  <a:tcPr>
                    <a:solidFill>
                      <a:srgbClr val="14223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544068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0">
                <a:solidFill>
                  <a:srgbClr val="91A4BC"/>
                </a:solidFill>
                <a:latin typeface="Aptos"/>
              </a:defRPr>
            </a:pPr>
            <a:r>
              <a:t>*Without history; excludes graph storage. Lazy heaps retain O(E) entries.</a:t>
            </a:r>
          </a:p>
          <a:p>
            <a:pPr>
              <a:spcAft>
                <a:spcPts val="1200"/>
              </a:spcAft>
              <a:defRPr sz="1500" b="0">
                <a:solidFill>
                  <a:srgbClr val="91A4BC"/>
                </a:solidFill>
                <a:latin typeface="Aptos"/>
              </a:defRPr>
            </a:pPr>
            <a:r>
              <a:t>History: O(V+E), except Floyd up to O(V³). Kruskal is usually O(E log E) on connected graphs.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35D9C0"/>
                </a:solidFill>
                <a:latin typeface="Aptos"/>
              </a:defRPr>
            </a:pPr>
            <a:r>
              <a:t>SMART CAMPUS / ALGORITHM STUDIO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E9F0FB"/>
                </a:solidFill>
                <a:latin typeface="Aptos"/>
              </a:defRPr>
            </a:pPr>
            <a:r>
              <a:t>Tested answers and measured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9224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91A4BC"/>
                </a:solidFill>
                <a:latin typeface="Aptos"/>
              </a:defRPr>
            </a:pPr>
            <a:r>
              <a:t>01AI0506 · Fictional campus · Distances in metres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9224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91A4BC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783080"/>
            <a:ext cx="3931920" cy="4206240"/>
          </a:xfrm>
          <a:prstGeom prst="roundRect">
            <a:avLst/>
          </a:prstGeom>
          <a:solidFill>
            <a:srgbClr val="142238"/>
          </a:solidFill>
          <a:ln>
            <a:solidFill>
              <a:srgbClr val="2B4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965960"/>
            <a:ext cx="35295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35D9C0"/>
                </a:solidFill>
                <a:latin typeface="Aptos"/>
              </a:defRPr>
            </a:pPr>
            <a:r>
              <a:t>Correctness evidence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606040"/>
            <a:ext cx="3529584" cy="3337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E9F0FB"/>
                </a:solidFill>
                <a:latin typeface="Aptos"/>
              </a:defRPr>
            </a:pPr>
            <a:r>
              <a:t>830 m shortest route</a:t>
            </a:r>
          </a:p>
          <a:p>
            <a:pPr>
              <a:spcAft>
                <a:spcPts val="1200"/>
              </a:spcAft>
              <a:defRPr sz="1900" b="0">
                <a:solidFill>
                  <a:srgbClr val="E9F0FB"/>
                </a:solidFill>
                <a:latin typeface="Aptos"/>
              </a:defRPr>
            </a:pPr>
            <a:r>
              <a:t>1,690 m MST</a:t>
            </a:r>
          </a:p>
          <a:p>
            <a:pPr>
              <a:spcAft>
                <a:spcPts val="1200"/>
              </a:spcAft>
              <a:defRPr sz="1900" b="0">
                <a:solidFill>
                  <a:srgbClr val="E9F0FB"/>
                </a:solidFill>
                <a:latin typeface="Aptos"/>
              </a:defRPr>
            </a:pPr>
            <a:r>
              <a:t>Disconnected forests</a:t>
            </a:r>
          </a:p>
          <a:p>
            <a:pPr>
              <a:spcAft>
                <a:spcPts val="1200"/>
              </a:spcAft>
              <a:defRPr sz="1900" b="0">
                <a:solidFill>
                  <a:srgbClr val="E9F0FB"/>
                </a:solidFill>
                <a:latin typeface="Aptos"/>
              </a:defRPr>
            </a:pPr>
            <a:r>
              <a:t>Zero weights and reconstruction</a:t>
            </a:r>
          </a:p>
          <a:p>
            <a:pPr>
              <a:spcAft>
                <a:spcPts val="1200"/>
              </a:spcAft>
              <a:defRPr sz="1900" b="0">
                <a:solidFill>
                  <a:srgbClr val="E9F0FB"/>
                </a:solidFill>
                <a:latin typeface="Aptos"/>
              </a:defRPr>
            </a:pPr>
            <a:r>
              <a:t>Tiny exhaustive MST oracle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800600" y="1828800"/>
          <a:ext cx="662940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983480" y="5440680"/>
            <a:ext cx="6217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0">
                <a:solidFill>
                  <a:srgbClr val="91A4BC"/>
                </a:solidFill>
                <a:latin typeface="Aptos"/>
              </a:defRPr>
            </a:pPr>
            <a:r>
              <a:t>Recorded median milliseconds; 7 repeats, trace off.</a:t>
            </a:r>
          </a:p>
          <a:p>
            <a:pPr>
              <a:spcAft>
                <a:spcPts val="1200"/>
              </a:spcAft>
              <a:defRPr sz="1400" b="0">
                <a:solidFill>
                  <a:srgbClr val="91A4BC"/>
                </a:solidFill>
                <a:latin typeface="Aptos"/>
              </a:defRPr>
            </a:pPr>
            <a:r>
              <a:t>Different workloads: one source versus all pairs. No overall winner implied.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35D9C0"/>
                </a:solidFill>
                <a:latin typeface="Aptos"/>
              </a:defRPr>
            </a:pPr>
            <a:r>
              <a:t>SMART CAMPUS / ALGORITHM STUDIO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E9F0FB"/>
                </a:solidFill>
                <a:latin typeface="Aptos"/>
              </a:defRPr>
            </a:pPr>
            <a:r>
              <a:t>Live demonstration: predict, then inspect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9224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91A4BC"/>
                </a:solidFill>
                <a:latin typeface="Aptos"/>
              </a:defRPr>
            </a:pPr>
            <a:r>
              <a:t>01AI0506 · Fictional campus · Distances in metres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9224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91A4BC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828800"/>
            <a:ext cx="3566160" cy="3840480"/>
          </a:xfrm>
          <a:prstGeom prst="roundRect">
            <a:avLst/>
          </a:prstGeom>
          <a:solidFill>
            <a:srgbClr val="142238"/>
          </a:solidFill>
          <a:ln>
            <a:solidFill>
              <a:srgbClr val="2B4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2011680"/>
            <a:ext cx="31638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35D9C0"/>
                </a:solidFill>
                <a:latin typeface="Aptos"/>
              </a:defRPr>
            </a:pPr>
            <a:r>
              <a:t>1 / Route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651760"/>
            <a:ext cx="3163824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E9F0FB"/>
                </a:solidFill>
                <a:latin typeface="Aptos"/>
              </a:defRPr>
            </a:pPr>
            <a:r>
              <a:t>Dashboard: 10 vertices, 17 edges.</a:t>
            </a:r>
          </a:p>
          <a:p>
            <a:pPr>
              <a:spcAft>
                <a:spcPts val="1200"/>
              </a:spcAft>
              <a:defRPr sz="1900" b="0">
                <a:solidFill>
                  <a:srgbClr val="E9F0FB"/>
                </a:solidFill>
                <a:latin typeface="Aptos"/>
              </a:defRPr>
            </a:pPr>
            <a:r>
              <a:t>Main Gate → Hostel: 830 m.</a:t>
            </a:r>
          </a:p>
          <a:p>
            <a:pPr>
              <a:spcAft>
                <a:spcPts val="1200"/>
              </a:spcAft>
              <a:defRPr sz="1900" b="0">
                <a:solidFill>
                  <a:srgbClr val="E9F0FB"/>
                </a:solidFill>
                <a:latin typeface="Aptos"/>
              </a:defRPr>
            </a:pPr>
            <a:r>
              <a:t>Open Dijkstra steps; click Next.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828800"/>
            <a:ext cx="3566160" cy="3840480"/>
          </a:xfrm>
          <a:prstGeom prst="roundRect">
            <a:avLst/>
          </a:prstGeom>
          <a:solidFill>
            <a:srgbClr val="142238"/>
          </a:solidFill>
          <a:ln>
            <a:solidFill>
              <a:srgbClr val="2B4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44568" y="2011680"/>
            <a:ext cx="31638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35D9C0"/>
                </a:solidFill>
                <a:latin typeface="Aptos"/>
              </a:defRPr>
            </a:pPr>
            <a:r>
              <a:t>2 / Connect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2651760"/>
            <a:ext cx="3163824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E9F0FB"/>
                </a:solidFill>
                <a:latin typeface="Aptos"/>
              </a:defRPr>
            </a:pPr>
            <a:r>
              <a:t>Compare Prim and Kruskal.</a:t>
            </a:r>
          </a:p>
          <a:p>
            <a:pPr>
              <a:spcAft>
                <a:spcPts val="1200"/>
              </a:spcAft>
              <a:defRPr sz="1900" b="0">
                <a:solidFill>
                  <a:srgbClr val="E9F0FB"/>
                </a:solidFill>
                <a:latin typeface="Aptos"/>
              </a:defRPr>
            </a:pPr>
            <a:r>
              <a:t>Both: 1,690 m, 9 edges.</a:t>
            </a:r>
          </a:p>
          <a:p>
            <a:pPr>
              <a:spcAft>
                <a:spcPts val="1200"/>
              </a:spcAft>
              <a:defRPr sz="1900" b="0">
                <a:solidFill>
                  <a:srgbClr val="E9F0FB"/>
                </a:solidFill>
                <a:latin typeface="Aptos"/>
              </a:defRPr>
            </a:pPr>
            <a:r>
              <a:t>Explain route versus network.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828800"/>
            <a:ext cx="3474720" cy="3840480"/>
          </a:xfrm>
          <a:prstGeom prst="roundRect">
            <a:avLst/>
          </a:prstGeom>
          <a:solidFill>
            <a:srgbClr val="142238"/>
          </a:solidFill>
          <a:ln>
            <a:solidFill>
              <a:srgbClr val="2B4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93608" y="2011680"/>
            <a:ext cx="30723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35D9C0"/>
                </a:solidFill>
                <a:latin typeface="Aptos"/>
              </a:defRPr>
            </a:pPr>
            <a:r>
              <a:t>3 / Experiment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93608" y="2651760"/>
            <a:ext cx="3072384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E9F0FB"/>
                </a:solidFill>
                <a:latin typeface="Aptos"/>
              </a:defRPr>
            </a:pPr>
            <a:r>
              <a:t>Add Gate–Hostel at 100 m.</a:t>
            </a:r>
          </a:p>
          <a:p>
            <a:pPr>
              <a:spcAft>
                <a:spcPts val="1200"/>
              </a:spcAft>
              <a:defRPr sz="1900" b="0">
                <a:solidFill>
                  <a:srgbClr val="E9F0FB"/>
                </a:solidFill>
                <a:latin typeface="Aptos"/>
              </a:defRPr>
            </a:pPr>
            <a:r>
              <a:t>Recomputed route: 100 m.</a:t>
            </a:r>
          </a:p>
          <a:p>
            <a:pPr>
              <a:spcAft>
                <a:spcPts val="1200"/>
              </a:spcAft>
              <a:defRPr sz="1900" b="0">
                <a:solidFill>
                  <a:srgbClr val="E9F0FB"/>
                </a:solidFill>
                <a:latin typeface="Aptos"/>
              </a:defRPr>
            </a:pPr>
            <a:r>
              <a:t>Restore: back to 830 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852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 b="0">
                <a:solidFill>
                  <a:srgbClr val="B8CBE4"/>
                </a:solidFill>
                <a:latin typeface="Aptos"/>
              </a:defRPr>
            </a:pPr>
            <a:r>
              <a:t>Then show Floyd’s matrix and BFS/DFS. All controls work locally after installation.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35D9C0"/>
                </a:solidFill>
                <a:latin typeface="Aptos"/>
              </a:defRPr>
            </a:pPr>
            <a:r>
              <a:t>SMART CAMPUS / ALGORITHM STUDIO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E9F0FB"/>
                </a:solidFill>
                <a:latin typeface="Aptos"/>
              </a:defRPr>
            </a:pPr>
            <a:r>
              <a:t>What this project demonstrates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9224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91A4BC"/>
                </a:solidFill>
                <a:latin typeface="Aptos"/>
              </a:defRPr>
            </a:pPr>
            <a:r>
              <a:t>01AI0506 · Fictional campus · Distances in metres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9224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91A4BC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6858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500" b="0">
                <a:solidFill>
                  <a:srgbClr val="E9F0FB"/>
                </a:solidFill>
                <a:latin typeface="Aptos"/>
              </a:defRPr>
            </a:pPr>
            <a:r>
              <a:t>A route and a network solve different problems.</a:t>
            </a:r>
          </a:p>
          <a:p>
            <a:pPr>
              <a:spcAft>
                <a:spcPts val="1200"/>
              </a:spcAft>
              <a:defRPr sz="2500" b="0">
                <a:solidFill>
                  <a:srgbClr val="E9F0FB"/>
                </a:solidFill>
                <a:latin typeface="Aptos"/>
              </a:defRPr>
            </a:pPr>
            <a:r>
              <a:t>Greedy choices need a correctness argument.</a:t>
            </a:r>
          </a:p>
          <a:p>
            <a:pPr>
              <a:spcAft>
                <a:spcPts val="1200"/>
              </a:spcAft>
              <a:defRPr sz="2500" b="0">
                <a:solidFill>
                  <a:srgbClr val="E9F0FB"/>
                </a:solidFill>
                <a:latin typeface="Aptos"/>
              </a:defRPr>
            </a:pPr>
            <a:r>
              <a:t>Visible steps make the code explainable.</a:t>
            </a:r>
          </a:p>
          <a:p>
            <a:pPr>
              <a:spcAft>
                <a:spcPts val="1200"/>
              </a:spcAft>
              <a:defRPr sz="2500" b="0">
                <a:solidFill>
                  <a:srgbClr val="E9F0FB"/>
                </a:solidFill>
                <a:latin typeface="Aptos"/>
              </a:defRPr>
            </a:pPr>
            <a:r>
              <a:t>Tests and measurements answer different questions.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1828800"/>
            <a:ext cx="3291840" cy="3383280"/>
          </a:xfrm>
          <a:prstGeom prst="roundRect">
            <a:avLst/>
          </a:prstGeom>
          <a:solidFill>
            <a:srgbClr val="142238"/>
          </a:solidFill>
          <a:ln>
            <a:solidFill>
              <a:srgbClr val="2B4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30768" y="2011680"/>
            <a:ext cx="28895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35D9C0"/>
                </a:solidFill>
                <a:latin typeface="Aptos"/>
              </a:defRPr>
            </a:pPr>
            <a:r>
              <a:t>Next steps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30768" y="2651760"/>
            <a:ext cx="2889504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E9F0FB"/>
                </a:solidFill>
                <a:latin typeface="Aptos"/>
              </a:defRPr>
            </a:pPr>
            <a:r>
              <a:t>Validated real data</a:t>
            </a:r>
          </a:p>
          <a:p>
            <a:pPr>
              <a:spcAft>
                <a:spcPts val="1200"/>
              </a:spcAft>
              <a:defRPr sz="1900" b="0">
                <a:solidFill>
                  <a:srgbClr val="E9F0FB"/>
                </a:solidFill>
                <a:latin typeface="Aptos"/>
              </a:defRPr>
            </a:pPr>
            <a:r>
              <a:t>Accessibility constraints</a:t>
            </a:r>
          </a:p>
          <a:p>
            <a:pPr>
              <a:spcAft>
                <a:spcPts val="1200"/>
              </a:spcAft>
              <a:defRPr sz="1900" b="0">
                <a:solidFill>
                  <a:srgbClr val="E9F0FB"/>
                </a:solidFill>
                <a:latin typeface="Aptos"/>
              </a:defRPr>
            </a:pPr>
            <a:r>
              <a:t>Reviewed graph versions</a:t>
            </a:r>
          </a:p>
          <a:p>
            <a:pPr>
              <a:spcAft>
                <a:spcPts val="1200"/>
              </a:spcAft>
              <a:defRPr sz="1900" b="0">
                <a:solidFill>
                  <a:srgbClr val="E9F0FB"/>
                </a:solidFill>
                <a:latin typeface="Aptos"/>
              </a:defRPr>
            </a:pPr>
            <a:r>
              <a:t>Keep assumptions explicit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93776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0">
                <a:solidFill>
                  <a:srgbClr val="91A4BC"/>
                </a:solidFill>
                <a:latin typeface="Aptos"/>
              </a:defRPr>
            </a:pPr>
            <a:r>
              <a:t>Scope: fictional static distances; symmetric paths; length-based construction cost.</a:t>
            </a:r>
          </a:p>
          <a:p>
            <a:pPr>
              <a:spcAft>
                <a:spcPts val="1200"/>
              </a:spcAft>
              <a:defRPr sz="1500" b="0">
                <a:solidFill>
                  <a:srgbClr val="91A4BC"/>
                </a:solidFill>
                <a:latin typeface="Aptos"/>
              </a:defRPr>
            </a:pPr>
            <a:r>
              <a:t>References: Cormen et al., Introduction to Algorithms, 4e (2022); Python and library official docs. Full references in the report.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