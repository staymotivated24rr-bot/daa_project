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Dijkstra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12 vertices</c:v>
                </c:pt>
                <c:pt idx="1">
                  <c:v>24 vertices</c:v>
                </c:pt>
                <c:pt idx="2">
                  <c:v>48 vertices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0.017025</c:v>
                </c:pt>
                <c:pt idx="1">
                  <c:v>0.04055</c:v>
                </c:pt>
                <c:pt idx="2">
                  <c:v>0.106208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Floyd-Warshall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12 vertices</c:v>
                </c:pt>
                <c:pt idx="1">
                  <c:v>24 vertices</c:v>
                </c:pt>
                <c:pt idx="2">
                  <c:v>48 vertices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0.299084</c:v>
                </c:pt>
                <c:pt idx="1">
                  <c:v>2.058528</c:v>
                </c:pt>
                <c:pt idx="2">
                  <c:v>14.70461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yourself. All campus data is fictional. No API key or external maps are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edge sequence: Main Gate–Academic Block 300; Academic Block–Library 150; Library–Canteen 180; Canteen–Hostel 200. Equal 300-m alternatives exist to Academic Block; strict improvements keep the direct 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docs/DEMO_SCRIPT.md for spoken guidance. Source: original campus JSON, implemented algorithms and recorded benchmark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docs/DEMO_SCRIPT.md for spoken guidance. Source: original campus JSON, implemented algorithms and recorded benchmark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docs/DEMO_SCRIPT.md for spoken guidance. Source: original campus JSON, implemented algorithms and recorded benchmark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docs/DEMO_SCRIPT.md for spoken guidance. Source: original campus JSON, implemented algorithms and recorded benchmark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docs/DEMO_SCRIPT.md for spoken guidance. Source: original campus JSON, implemented algorithms and recorded benchmark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docs/DEMO_SCRIPT.md for spoken guidance. Source: original campus JSON, implemented algorithms and recorded benchmark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docs/DEMO_SCRIPT.md for spoken guidance. Source: original campus JSON, implemented algorithms and recorded benchmark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docs/DEMO_SCRIPT.md for spoken guidance. Source: original campus JSON, implemented algorithms and recorded benchmark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docs/DEMO_SCRIPT.md for spoken guidance. Source: original campus JSON, implemented algorithms and recorded benchmark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docs/DEMO_SCRIPT.md for spoken guidance. Source: original campus JSON, implemented algorithms and recorded benchmark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B.TECH AI &amp; ML / DESIGN AND ANALYSIS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Smart Campus Navigator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0">
                <a:solidFill>
                  <a:srgbClr val="B8CBE4"/>
                </a:solidFill>
                <a:latin typeface="Aptos"/>
              </a:defRPr>
            </a:pPr>
            <a:r>
              <a:t>Interactive graph algorithms.</a:t>
            </a:r>
          </a:p>
          <a:p>
            <a:pPr>
              <a:spcAft>
                <a:spcPts val="1200"/>
              </a:spcAft>
              <a:defRPr sz="2900" b="0">
                <a:solidFill>
                  <a:srgbClr val="B8CBE4"/>
                </a:solidFill>
                <a:latin typeface="Aptos"/>
              </a:defRPr>
            </a:pPr>
            <a:r>
              <a:t>Routes students can explain.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947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91A4BC"/>
                </a:solidFill>
                <a:latin typeface="Aptos"/>
              </a:defRPr>
            </a:pPr>
            <a:r>
              <a:t>[Student Name]  ·  [Enrollment Number]</a:t>
            </a:r>
          </a:p>
          <a:p>
            <a:pPr>
              <a:spcAft>
                <a:spcPts val="1200"/>
              </a:spcAft>
              <a:defRPr sz="1800" b="0">
                <a:solidFill>
                  <a:srgbClr val="91A4BC"/>
                </a:solidFill>
                <a:latin typeface="Aptos"/>
              </a:defRPr>
            </a:pPr>
            <a:r>
              <a:t>[Guide Name]</a:t>
            </a:r>
          </a:p>
          <a:p>
            <a:pPr>
              <a:spcAft>
                <a:spcPts val="1200"/>
              </a:spcAft>
              <a:defRPr sz="1800" b="0">
                <a:solidFill>
                  <a:srgbClr val="91A4BC"/>
                </a:solidFill>
                <a:latin typeface="Aptos"/>
              </a:defRPr>
            </a:pPr>
            <a:r>
              <a:t>[University / Department]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035800" y="4860757"/>
            <a:ext cx="888999" cy="125129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97420" y="481359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160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7543800" y="3734602"/>
            <a:ext cx="380999" cy="1126155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51420" y="4187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24799" y="4860757"/>
            <a:ext cx="889001" cy="500514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86420" y="500128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170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924799" y="4297680"/>
            <a:ext cx="698501" cy="563077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91170" y="446949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150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400800" y="4860757"/>
            <a:ext cx="1523999" cy="625643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79920" y="506385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300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035800" y="3734602"/>
            <a:ext cx="508000" cy="1251284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06920" y="42505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240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400800" y="4985886"/>
            <a:ext cx="635000" cy="500514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35420" y="512641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140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543800" y="3296652"/>
            <a:ext cx="1397000" cy="437950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59420" y="340589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260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543800" y="2545882"/>
            <a:ext cx="0" cy="1188720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60920" y="303051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210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940800" y="3046395"/>
            <a:ext cx="1143000" cy="250257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29420" y="306179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200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623300" y="3296652"/>
            <a:ext cx="317500" cy="1001028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99170" y="368743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180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7543800" y="2545882"/>
            <a:ext cx="1397000" cy="750770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059420" y="28115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270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83800" y="3046395"/>
            <a:ext cx="190500" cy="1501541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996170" y="368743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270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7543800" y="2545882"/>
            <a:ext cx="2540000" cy="500513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630920" y="268641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430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8623300" y="4297680"/>
            <a:ext cx="190500" cy="1063591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35670" y="471974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190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8813800" y="4547936"/>
            <a:ext cx="1460500" cy="813335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361170" y="48448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290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23300" y="4297680"/>
            <a:ext cx="1651000" cy="250256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265920" y="4313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280</a:t>
            </a:r>
          </a:p>
        </p:txBody>
      </p:sp>
      <p:sp>
        <p:nvSpPr>
          <p:cNvPr id="42" name="Oval 41"/>
          <p:cNvSpPr/>
          <p:nvPr/>
        </p:nvSpPr>
        <p:spPr>
          <a:xfrm>
            <a:off x="7874508" y="4810465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57287" y="451328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Academic Block</a:t>
            </a:r>
          </a:p>
        </p:txBody>
      </p:sp>
      <p:sp>
        <p:nvSpPr>
          <p:cNvPr id="44" name="Oval 43"/>
          <p:cNvSpPr/>
          <p:nvPr/>
        </p:nvSpPr>
        <p:spPr>
          <a:xfrm>
            <a:off x="6985508" y="4935594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8288" y="463841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Administrative Block</a:t>
            </a:r>
          </a:p>
        </p:txBody>
      </p:sp>
      <p:sp>
        <p:nvSpPr>
          <p:cNvPr id="46" name="Oval 45"/>
          <p:cNvSpPr/>
          <p:nvPr/>
        </p:nvSpPr>
        <p:spPr>
          <a:xfrm>
            <a:off x="7493508" y="3684310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76288" y="338713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Auditorium</a:t>
            </a:r>
          </a:p>
        </p:txBody>
      </p:sp>
      <p:sp>
        <p:nvSpPr>
          <p:cNvPr id="48" name="Oval 47"/>
          <p:cNvSpPr/>
          <p:nvPr/>
        </p:nvSpPr>
        <p:spPr>
          <a:xfrm>
            <a:off x="8890508" y="3246360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3288" y="294918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Canteen</a:t>
            </a:r>
          </a:p>
        </p:txBody>
      </p:sp>
      <p:sp>
        <p:nvSpPr>
          <p:cNvPr id="50" name="Oval 49"/>
          <p:cNvSpPr/>
          <p:nvPr/>
        </p:nvSpPr>
        <p:spPr>
          <a:xfrm>
            <a:off x="10033508" y="2996103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6288" y="2698923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Hostel</a:t>
            </a:r>
          </a:p>
        </p:txBody>
      </p:sp>
      <p:sp>
        <p:nvSpPr>
          <p:cNvPr id="52" name="Oval 51"/>
          <p:cNvSpPr/>
          <p:nvPr/>
        </p:nvSpPr>
        <p:spPr>
          <a:xfrm>
            <a:off x="8763508" y="5310979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46288" y="5013799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Laboratory</a:t>
            </a:r>
          </a:p>
        </p:txBody>
      </p:sp>
      <p:sp>
        <p:nvSpPr>
          <p:cNvPr id="54" name="Oval 53"/>
          <p:cNvSpPr/>
          <p:nvPr/>
        </p:nvSpPr>
        <p:spPr>
          <a:xfrm>
            <a:off x="8573008" y="4247388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787" y="395020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Library</a:t>
            </a:r>
          </a:p>
        </p:txBody>
      </p:sp>
      <p:sp>
        <p:nvSpPr>
          <p:cNvPr id="56" name="Oval 55"/>
          <p:cNvSpPr/>
          <p:nvPr/>
        </p:nvSpPr>
        <p:spPr>
          <a:xfrm>
            <a:off x="6350508" y="5436108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33288" y="51389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Main Gate</a:t>
            </a:r>
          </a:p>
        </p:txBody>
      </p:sp>
      <p:sp>
        <p:nvSpPr>
          <p:cNvPr id="58" name="Oval 57"/>
          <p:cNvSpPr/>
          <p:nvPr/>
        </p:nvSpPr>
        <p:spPr>
          <a:xfrm>
            <a:off x="10224008" y="4497644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6788" y="420046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Medical Centre</a:t>
            </a:r>
          </a:p>
        </p:txBody>
      </p:sp>
      <p:sp>
        <p:nvSpPr>
          <p:cNvPr id="60" name="Oval 59"/>
          <p:cNvSpPr/>
          <p:nvPr/>
        </p:nvSpPr>
        <p:spPr>
          <a:xfrm>
            <a:off x="7493508" y="2495590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76288" y="219841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Sports 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SMART CAMPUS / ALGORITHM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Two campus problems, two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394960" cy="347472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11680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A student’s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51760"/>
            <a:ext cx="4992624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Find the least walking distance between two selected locations.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Example: Main Gate → Hostel = 830 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347472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011680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An administrator’s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651760"/>
            <a:ext cx="4992624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Connect every location with minimum total pathway length.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Example: 9-edge MST = 1,690 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5C769"/>
                </a:solidFill>
                <a:latin typeface="Aptos"/>
              </a:defRPr>
            </a:pPr>
            <a:r>
              <a:t>A minimum spanning tree does not guarantee the shortest route for each journey.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SMART CAMPUS / ALGORITHM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Scope and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566160" cy="420624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65960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06040"/>
            <a:ext cx="3163824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10 locations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17 undirected paths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Nonnegative metres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Fictional coordinates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66160" cy="420624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65960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606040"/>
            <a:ext cx="3163824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Six handwritten algorithms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Step histories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Path reconstruction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Validated graph edits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783080"/>
            <a:ext cx="3474720" cy="420624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965960"/>
            <a:ext cx="3072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606040"/>
            <a:ext cx="3072384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Unit 4 graph / greedy work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Unit 1 efficiency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Correctness and tests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Practical 8–11 mapping*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91A4BC"/>
                </a:solidFill>
                <a:latin typeface="Aptos"/>
              </a:defRPr>
            </a:pPr>
            <a:r>
              <a:t>*Mapping supplied in the brief; no separate official syllabus was attached.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SMART CAMPUS / ALGORITHM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One graph, six useful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520440" cy="192024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65960"/>
            <a:ext cx="3118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BFS / 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06040"/>
            <a:ext cx="3118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Explore reachability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Queue versus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92024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65960"/>
            <a:ext cx="3118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Dijkstra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606040"/>
            <a:ext cx="3118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One source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Shortest weighted 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783080"/>
            <a:ext cx="3520440" cy="192024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965960"/>
            <a:ext cx="3118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Floyd-Warshall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606040"/>
            <a:ext cx="3118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Every pair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Intermediate-node DP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77639"/>
            <a:ext cx="3520440" cy="192024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160520"/>
            <a:ext cx="3118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Prim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800600"/>
            <a:ext cx="3118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Grow a minimum tree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Cheapest crossing edge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977639"/>
            <a:ext cx="3520440" cy="192024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4160520"/>
            <a:ext cx="3118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Kruskal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800600"/>
            <a:ext cx="3118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Sort and join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DSU rejects cycle edges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977639"/>
            <a:ext cx="3520440" cy="192024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4160520"/>
            <a:ext cx="3118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Learning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4800600"/>
            <a:ext cx="3118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Fragment-based replay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Live comparison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SMART CAMPUS / ALGORITHM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Readable architecture, local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423160" cy="256032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377440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017520"/>
            <a:ext cx="202082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campus.json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Graph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94560"/>
            <a:ext cx="2423160" cy="256032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2377440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3017520"/>
            <a:ext cx="202082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Standard Python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Result +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94560"/>
            <a:ext cx="2423160" cy="256032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377440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3017520"/>
            <a:ext cx="202082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Streamlit controls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Plotly highlights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194560"/>
            <a:ext cx="2423160" cy="256032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6608" y="2377440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6608" y="3017520"/>
            <a:ext cx="202082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unittest checks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PDF + 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B8CBE4"/>
                </a:solidFill>
                <a:latin typeface="Aptos"/>
              </a:defRPr>
            </a:pPr>
            <a:r>
              <a:t>Session edits → recompute → inspect → restore</a:t>
            </a:r>
          </a:p>
          <a:p>
            <a:pPr>
              <a:spcAft>
                <a:spcPts val="1200"/>
              </a:spcAft>
              <a:defRPr sz="2100" b="0">
                <a:solidFill>
                  <a:srgbClr val="B8CBE4"/>
                </a:solidFill>
                <a:latin typeface="Aptos"/>
              </a:defRPr>
            </a:pPr>
            <a:r>
              <a:t>No database, account, API key or cloud subscription.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SMART CAMPUS / ALGORITHM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Dijkstra in action: 830 metres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724660" y="4965833"/>
            <a:ext cx="1262379" cy="131545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72969" y="492187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160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2446020" y="3781926"/>
            <a:ext cx="541019" cy="1183907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33649" y="4264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87039" y="4965833"/>
            <a:ext cx="1262381" cy="526181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35349" y="511919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170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987039" y="4373880"/>
            <a:ext cx="991871" cy="591953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00094" y="45601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150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22960" y="4965833"/>
            <a:ext cx="2164079" cy="657727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22119" y="5184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300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724660" y="3781926"/>
            <a:ext cx="721360" cy="1315452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02459" y="43299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240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22960" y="5097378"/>
            <a:ext cx="901700" cy="526182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0930" y="525074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140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446020" y="3321517"/>
            <a:ext cx="1983740" cy="460409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55010" y="344199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260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446020" y="2532246"/>
            <a:ext cx="0" cy="1249680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63139" y="304735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210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429760" y="3058427"/>
            <a:ext cx="1623060" cy="263090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58410" y="30802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200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978910" y="3321517"/>
            <a:ext cx="450850" cy="1052363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21454" y="373797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180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2446020" y="2532246"/>
            <a:ext cx="1983740" cy="789271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55010" y="281715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270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52820" y="3058427"/>
            <a:ext cx="270510" cy="1578543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05194" y="373797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270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2446020" y="2532246"/>
            <a:ext cx="3606800" cy="526181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066539" y="26856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430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3978910" y="4373880"/>
            <a:ext cx="270510" cy="1118134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931284" y="482321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190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249420" y="4636970"/>
            <a:ext cx="2073910" cy="855044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103495" y="49547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290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78910" y="4373880"/>
            <a:ext cx="2344420" cy="263090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968239" y="439569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280</a:t>
            </a:r>
          </a:p>
        </p:txBody>
      </p:sp>
      <p:sp>
        <p:nvSpPr>
          <p:cNvPr id="40" name="Oval 39"/>
          <p:cNvSpPr/>
          <p:nvPr/>
        </p:nvSpPr>
        <p:spPr>
          <a:xfrm>
            <a:off x="2936747" y="4915541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19527" y="4618361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Academic Block</a:t>
            </a:r>
          </a:p>
        </p:txBody>
      </p:sp>
      <p:sp>
        <p:nvSpPr>
          <p:cNvPr id="42" name="Oval 41"/>
          <p:cNvSpPr/>
          <p:nvPr/>
        </p:nvSpPr>
        <p:spPr>
          <a:xfrm>
            <a:off x="1674368" y="5047086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7148" y="474990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Administrative Block</a:t>
            </a:r>
          </a:p>
        </p:txBody>
      </p:sp>
      <p:sp>
        <p:nvSpPr>
          <p:cNvPr id="44" name="Oval 43"/>
          <p:cNvSpPr/>
          <p:nvPr/>
        </p:nvSpPr>
        <p:spPr>
          <a:xfrm>
            <a:off x="2395727" y="3731634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78507" y="343445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Auditorium</a:t>
            </a:r>
          </a:p>
        </p:txBody>
      </p:sp>
      <p:sp>
        <p:nvSpPr>
          <p:cNvPr id="46" name="Oval 45"/>
          <p:cNvSpPr/>
          <p:nvPr/>
        </p:nvSpPr>
        <p:spPr>
          <a:xfrm>
            <a:off x="4379468" y="3271225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62248" y="297404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Canteen</a:t>
            </a:r>
          </a:p>
        </p:txBody>
      </p:sp>
      <p:sp>
        <p:nvSpPr>
          <p:cNvPr id="48" name="Oval 47"/>
          <p:cNvSpPr/>
          <p:nvPr/>
        </p:nvSpPr>
        <p:spPr>
          <a:xfrm>
            <a:off x="6002528" y="3008135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85308" y="271095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Hostel</a:t>
            </a:r>
          </a:p>
        </p:txBody>
      </p:sp>
      <p:sp>
        <p:nvSpPr>
          <p:cNvPr id="50" name="Oval 49"/>
          <p:cNvSpPr/>
          <p:nvPr/>
        </p:nvSpPr>
        <p:spPr>
          <a:xfrm>
            <a:off x="4199128" y="5441722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81908" y="514454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Laboratory</a:t>
            </a:r>
          </a:p>
        </p:txBody>
      </p:sp>
      <p:sp>
        <p:nvSpPr>
          <p:cNvPr id="52" name="Oval 51"/>
          <p:cNvSpPr/>
          <p:nvPr/>
        </p:nvSpPr>
        <p:spPr>
          <a:xfrm>
            <a:off x="3928618" y="4323588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11398" y="402640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Library</a:t>
            </a:r>
          </a:p>
        </p:txBody>
      </p:sp>
      <p:sp>
        <p:nvSpPr>
          <p:cNvPr id="54" name="Oval 53"/>
          <p:cNvSpPr/>
          <p:nvPr/>
        </p:nvSpPr>
        <p:spPr>
          <a:xfrm>
            <a:off x="772668" y="5573268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448" y="52760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Main Gate</a:t>
            </a:r>
          </a:p>
        </p:txBody>
      </p:sp>
      <p:sp>
        <p:nvSpPr>
          <p:cNvPr id="56" name="Oval 55"/>
          <p:cNvSpPr/>
          <p:nvPr/>
        </p:nvSpPr>
        <p:spPr>
          <a:xfrm>
            <a:off x="6273038" y="4586678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55818" y="428949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Medical Centre</a:t>
            </a:r>
          </a:p>
        </p:txBody>
      </p:sp>
      <p:sp>
        <p:nvSpPr>
          <p:cNvPr id="58" name="Oval 57"/>
          <p:cNvSpPr/>
          <p:nvPr/>
        </p:nvSpPr>
        <p:spPr>
          <a:xfrm>
            <a:off x="2395727" y="2481954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78507" y="218477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Sports Ground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192024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35D9C0"/>
                </a:solidFill>
                <a:latin typeface="Aptos"/>
              </a:defRPr>
            </a:pPr>
            <a:r>
              <a:t>Main Gate → Academic Block: 300 m</a:t>
            </a:r>
          </a:p>
          <a:p>
            <a:pPr>
              <a:spcAft>
                <a:spcPts val="1200"/>
              </a:spcAft>
              <a:defRPr sz="1800" b="0">
                <a:solidFill>
                  <a:srgbClr val="35D9C0"/>
                </a:solidFill>
                <a:latin typeface="Aptos"/>
              </a:defRPr>
            </a:pPr>
            <a:r>
              <a:t>Academic Block → Library: 150 m</a:t>
            </a:r>
          </a:p>
          <a:p>
            <a:pPr>
              <a:spcAft>
                <a:spcPts val="1200"/>
              </a:spcAft>
              <a:defRPr sz="1800" b="0">
                <a:solidFill>
                  <a:srgbClr val="35D9C0"/>
                </a:solidFill>
                <a:latin typeface="Aptos"/>
              </a:defRPr>
            </a:pPr>
            <a:r>
              <a:t>Library → Canteen: 180 m</a:t>
            </a:r>
          </a:p>
          <a:p>
            <a:pPr>
              <a:spcAft>
                <a:spcPts val="1200"/>
              </a:spcAft>
              <a:defRPr sz="1800" b="0">
                <a:solidFill>
                  <a:srgbClr val="35D9C0"/>
                </a:solidFill>
                <a:latin typeface="Aptos"/>
              </a:defRPr>
            </a:pPr>
            <a:r>
              <a:t>Canteen → Hostel: 200 m</a:t>
            </a:r>
          </a:p>
          <a:p>
            <a:pPr>
              <a:spcAft>
                <a:spcPts val="1200"/>
              </a:spcAft>
              <a:defRPr sz="1800" b="0">
                <a:solidFill>
                  <a:srgbClr val="35D9C0"/>
                </a:solidFill>
                <a:latin typeface="Aptos"/>
              </a:defRPr>
            </a:pPr>
            <a:r>
              <a:t>Total: 830 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8CBE4"/>
                </a:solidFill>
                <a:latin typeface="Aptos"/>
              </a:defRPr>
            </a:pPr>
            <a:r>
              <a:t>Nearest unsettled first. Relax neighbors. Record parents. Nonnegative weights make settling safe.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SMART CAMPUS / ALGORITHM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Explore layers; compare every 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394960" cy="356616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11680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BFS and 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51760"/>
            <a:ext cx="499262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BFS: FIFO queue; minimum unweighted hops.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DFS: stack frames; finish a branch, then backtrack.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Neither optimizes walking metres.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356616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011680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Floyd-Warshall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651760"/>
            <a:ext cx="499262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Allow one intermediate k at a time.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d[i,j] = min(d[i,j], d[i,k] + d[k,j])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Next-hop table reconstructs the route.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5C769"/>
                </a:solidFill>
                <a:latin typeface="Aptos"/>
              </a:defRPr>
            </a:pPr>
            <a:r>
              <a:t>Triangle: A–B=2, B–C=1, A–C=5. One hop costs 5; the best weighted route costs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SMART CAMPUS / ALGORITHM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Minimum network: 1,690 metres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724660" y="4995511"/>
            <a:ext cx="1262379" cy="134754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72969" y="49531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160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2446020" y="3782728"/>
            <a:ext cx="541019" cy="1212783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33649" y="42793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87039" y="4995511"/>
            <a:ext cx="1262381" cy="539015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35349" y="515529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170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987039" y="4389119"/>
            <a:ext cx="991871" cy="606392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00094" y="458258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150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22960" y="4995511"/>
            <a:ext cx="2164079" cy="673768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22119" y="522266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300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724660" y="3782728"/>
            <a:ext cx="721360" cy="1347537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02459" y="43467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240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22960" y="5130265"/>
            <a:ext cx="901700" cy="539014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0930" y="52900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140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446020" y="3311090"/>
            <a:ext cx="1983740" cy="471638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55010" y="343718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260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446020" y="2502568"/>
            <a:ext cx="0" cy="1280160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63139" y="303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210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429760" y="3041583"/>
            <a:ext cx="1623060" cy="269507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58410" y="30666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200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978910" y="3311090"/>
            <a:ext cx="450850" cy="1078029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21454" y="374037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180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2446020" y="2502568"/>
            <a:ext cx="1983740" cy="808522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55010" y="279710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270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52820" y="3041583"/>
            <a:ext cx="270510" cy="1617044"/>
          </a:xfrm>
          <a:prstGeom prst="line">
            <a:avLst/>
          </a:prstGeom>
          <a:ln w="38100">
            <a:solidFill>
              <a:srgbClr val="35D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05194" y="374037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270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2446020" y="2502568"/>
            <a:ext cx="3606800" cy="539015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066539" y="266234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430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3978910" y="4389119"/>
            <a:ext cx="270510" cy="1145407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931284" y="485209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190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249420" y="4658627"/>
            <a:ext cx="2073910" cy="875899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103495" y="49868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290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78910" y="4389119"/>
            <a:ext cx="2344420" cy="269508"/>
          </a:xfrm>
          <a:prstGeom prst="line">
            <a:avLst/>
          </a:prstGeom>
          <a:ln w="16510">
            <a:solidFill>
              <a:srgbClr val="435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968239" y="441414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AC9DC"/>
                </a:solidFill>
                <a:latin typeface="Aptos"/>
              </a:defRPr>
            </a:pPr>
            <a:r>
              <a:t>280</a:t>
            </a:r>
          </a:p>
        </p:txBody>
      </p:sp>
      <p:sp>
        <p:nvSpPr>
          <p:cNvPr id="40" name="Oval 39"/>
          <p:cNvSpPr/>
          <p:nvPr/>
        </p:nvSpPr>
        <p:spPr>
          <a:xfrm>
            <a:off x="2936747" y="4945219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19527" y="4648039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Academic Block</a:t>
            </a:r>
          </a:p>
        </p:txBody>
      </p:sp>
      <p:sp>
        <p:nvSpPr>
          <p:cNvPr id="42" name="Oval 41"/>
          <p:cNvSpPr/>
          <p:nvPr/>
        </p:nvSpPr>
        <p:spPr>
          <a:xfrm>
            <a:off x="1674368" y="5079973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7148" y="4782793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Administrative Block</a:t>
            </a:r>
          </a:p>
        </p:txBody>
      </p:sp>
      <p:sp>
        <p:nvSpPr>
          <p:cNvPr id="44" name="Oval 43"/>
          <p:cNvSpPr/>
          <p:nvPr/>
        </p:nvSpPr>
        <p:spPr>
          <a:xfrm>
            <a:off x="2395727" y="3732436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78507" y="343525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Auditorium</a:t>
            </a:r>
          </a:p>
        </p:txBody>
      </p:sp>
      <p:sp>
        <p:nvSpPr>
          <p:cNvPr id="46" name="Oval 45"/>
          <p:cNvSpPr/>
          <p:nvPr/>
        </p:nvSpPr>
        <p:spPr>
          <a:xfrm>
            <a:off x="4379468" y="3260798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62248" y="296361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Canteen</a:t>
            </a:r>
          </a:p>
        </p:txBody>
      </p:sp>
      <p:sp>
        <p:nvSpPr>
          <p:cNvPr id="48" name="Oval 47"/>
          <p:cNvSpPr/>
          <p:nvPr/>
        </p:nvSpPr>
        <p:spPr>
          <a:xfrm>
            <a:off x="6002528" y="2991291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85308" y="2694111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Hostel</a:t>
            </a:r>
          </a:p>
        </p:txBody>
      </p:sp>
      <p:sp>
        <p:nvSpPr>
          <p:cNvPr id="50" name="Oval 49"/>
          <p:cNvSpPr/>
          <p:nvPr/>
        </p:nvSpPr>
        <p:spPr>
          <a:xfrm>
            <a:off x="4199128" y="5484234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81908" y="518705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Laboratory</a:t>
            </a:r>
          </a:p>
        </p:txBody>
      </p:sp>
      <p:sp>
        <p:nvSpPr>
          <p:cNvPr id="52" name="Oval 51"/>
          <p:cNvSpPr/>
          <p:nvPr/>
        </p:nvSpPr>
        <p:spPr>
          <a:xfrm>
            <a:off x="3928618" y="4338827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11398" y="4041647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Library</a:t>
            </a:r>
          </a:p>
        </p:txBody>
      </p:sp>
      <p:sp>
        <p:nvSpPr>
          <p:cNvPr id="54" name="Oval 53"/>
          <p:cNvSpPr/>
          <p:nvPr/>
        </p:nvSpPr>
        <p:spPr>
          <a:xfrm>
            <a:off x="772668" y="5618988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448" y="5321807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Main Gate</a:t>
            </a:r>
          </a:p>
        </p:txBody>
      </p:sp>
      <p:sp>
        <p:nvSpPr>
          <p:cNvPr id="56" name="Oval 55"/>
          <p:cNvSpPr/>
          <p:nvPr/>
        </p:nvSpPr>
        <p:spPr>
          <a:xfrm>
            <a:off x="6273038" y="4608335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55818" y="431115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Medical Centre</a:t>
            </a:r>
          </a:p>
        </p:txBody>
      </p:sp>
      <p:sp>
        <p:nvSpPr>
          <p:cNvPr id="58" name="Oval 57"/>
          <p:cNvSpPr/>
          <p:nvPr/>
        </p:nvSpPr>
        <p:spPr>
          <a:xfrm>
            <a:off x="2395727" y="2452276"/>
            <a:ext cx="100584" cy="100584"/>
          </a:xfrm>
          <a:prstGeom prst="ellipse">
            <a:avLst/>
          </a:prstGeom>
          <a:solidFill>
            <a:srgbClr val="6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78507" y="215509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9F0FB"/>
                </a:solidFill>
                <a:latin typeface="Aptos"/>
              </a:defRPr>
            </a:pPr>
            <a:r>
              <a:t>Sports Ground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0" y="1874519"/>
            <a:ext cx="3566160" cy="347472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47888" y="2057400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9 edges / 10 vertices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47888" y="2697479"/>
            <a:ext cx="3163824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Prim grows a connected patch.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Kruskal sorts and joins components.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Same optimal total; ties can allow different trees.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5C769"/>
                </a:solidFill>
                <a:latin typeface="Aptos"/>
              </a:defRPr>
            </a:pPr>
            <a:r>
              <a:t>Main Gate → Auditorium: 380 m shortest route; 510 m along this MST.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SMART CAMPUS / ALGORITHM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Efficiency: explain the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9164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9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Space*</a:t>
                      </a:r>
                    </a:p>
                  </a:txBody>
                  <a:tcPr>
                    <a:solidFill>
                      <a:srgbClr val="19364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BFS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O(V)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DFS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O(V)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Dijkstra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O((V + E) log V)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Floyd-Warshall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O(V³)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O(V²)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Prim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O((V + E) log V)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Kruskal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O(V + E log E)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E9F0FB"/>
                          </a:solidFill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406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91A4BC"/>
                </a:solidFill>
                <a:latin typeface="Aptos"/>
              </a:defRPr>
            </a:pPr>
            <a:r>
              <a:t>*Without history; excludes graph storage. Lazy heaps retain O(E) entries.</a:t>
            </a:r>
          </a:p>
          <a:p>
            <a:pPr>
              <a:spcAft>
                <a:spcPts val="1200"/>
              </a:spcAft>
              <a:defRPr sz="1500" b="0">
                <a:solidFill>
                  <a:srgbClr val="91A4BC"/>
                </a:solidFill>
                <a:latin typeface="Aptos"/>
              </a:defRPr>
            </a:pPr>
            <a:r>
              <a:t>History: O(V+E), except Floyd up to O(V³). Kruskal is usually O(E log E) on connected graphs.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SMART CAMPUS / ALGORITHM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Tested answers and measured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931920" cy="420624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65960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Correctness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06040"/>
            <a:ext cx="3529584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830 m shortest route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1,690 m MST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Disconnected forests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Zero weights and reconstruction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Tiny exhaustive MST oracle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800600" y="1828800"/>
          <a:ext cx="66294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83480" y="544068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91A4BC"/>
                </a:solidFill>
                <a:latin typeface="Aptos"/>
              </a:defRPr>
            </a:pPr>
            <a:r>
              <a:t>Recorded median milliseconds; 7 repeats, trace off.</a:t>
            </a:r>
          </a:p>
          <a:p>
            <a:pPr>
              <a:spcAft>
                <a:spcPts val="1200"/>
              </a:spcAft>
              <a:defRPr sz="1400" b="0">
                <a:solidFill>
                  <a:srgbClr val="91A4BC"/>
                </a:solidFill>
                <a:latin typeface="Aptos"/>
              </a:defRPr>
            </a:pPr>
            <a:r>
              <a:t>Different workloads: one source versus all pairs. No overall winner implied.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SMART CAMPUS / ALGORITHM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Live demonstration: predict, then inspect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566160" cy="384048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11680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1 /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51760"/>
            <a:ext cx="316382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Dashboard: 10 vertices, 17 edges.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Main Gate → Hostel: 830 m.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Open Dijkstra steps; click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66160" cy="384048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011680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2 /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651760"/>
            <a:ext cx="316382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Compare Prim and Kruskal.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Both: 1,690 m, 9 edges.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Explain route versus network.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474720" cy="384048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011680"/>
            <a:ext cx="3072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3 / Experiment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651760"/>
            <a:ext cx="307238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Add Gate–Hostel at 100 m.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Recomputed route: 100 m.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Restore: back to 830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B8CBE4"/>
                </a:solidFill>
                <a:latin typeface="Aptos"/>
              </a:defRPr>
            </a:pPr>
            <a:r>
              <a:t>Then show Floyd’s matrix and BFS/DFS. All controls work locally after installation.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5D9C0"/>
                </a:solidFill>
                <a:latin typeface="Aptos"/>
              </a:defRPr>
            </a:pPr>
            <a:r>
              <a:t>SMART CAMPUS / ALGORITHM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9F0FB"/>
                </a:solidFill>
                <a:latin typeface="Aptos"/>
              </a:defRPr>
            </a:pPr>
            <a:r>
              <a:t>What this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01AI0506 · Fictional campus · Distances in metres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91A4B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E9F0FB"/>
                </a:solidFill>
                <a:latin typeface="Aptos"/>
              </a:defRPr>
            </a:pPr>
            <a:r>
              <a:t>A route and a network solve different problems.</a:t>
            </a:r>
          </a:p>
          <a:p>
            <a:pPr>
              <a:spcAft>
                <a:spcPts val="1200"/>
              </a:spcAft>
              <a:defRPr sz="2500" b="0">
                <a:solidFill>
                  <a:srgbClr val="E9F0FB"/>
                </a:solidFill>
                <a:latin typeface="Aptos"/>
              </a:defRPr>
            </a:pPr>
            <a:r>
              <a:t>Greedy choices need a correctness argument.</a:t>
            </a:r>
          </a:p>
          <a:p>
            <a:pPr>
              <a:spcAft>
                <a:spcPts val="1200"/>
              </a:spcAft>
              <a:defRPr sz="2500" b="0">
                <a:solidFill>
                  <a:srgbClr val="E9F0FB"/>
                </a:solidFill>
                <a:latin typeface="Aptos"/>
              </a:defRPr>
            </a:pPr>
            <a:r>
              <a:t>Visible steps make the code explainable.</a:t>
            </a:r>
          </a:p>
          <a:p>
            <a:pPr>
              <a:spcAft>
                <a:spcPts val="1200"/>
              </a:spcAft>
              <a:defRPr sz="2500" b="0">
                <a:solidFill>
                  <a:srgbClr val="E9F0FB"/>
                </a:solidFill>
                <a:latin typeface="Aptos"/>
              </a:defRPr>
            </a:pPr>
            <a:r>
              <a:t>Tests and measurements answer different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3291840" cy="3383280"/>
          </a:xfrm>
          <a:prstGeom prst="roundRect">
            <a:avLst/>
          </a:prstGeom>
          <a:solidFill>
            <a:srgbClr val="142238"/>
          </a:solidFill>
          <a:ln>
            <a:solidFill>
              <a:srgbClr val="2B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2011680"/>
            <a:ext cx="2889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5D9C0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2651760"/>
            <a:ext cx="288950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Validated real data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Accessibility constraints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Reviewed graph versions</a:t>
            </a:r>
          </a:p>
          <a:p>
            <a:pPr>
              <a:spcAft>
                <a:spcPts val="1200"/>
              </a:spcAft>
              <a:defRPr sz="1900" b="0">
                <a:solidFill>
                  <a:srgbClr val="E9F0FB"/>
                </a:solidFill>
                <a:latin typeface="Aptos"/>
              </a:defRPr>
            </a:pPr>
            <a:r>
              <a:t>Keep assumptions explicit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91A4BC"/>
                </a:solidFill>
                <a:latin typeface="Aptos"/>
              </a:defRPr>
            </a:pPr>
            <a:r>
              <a:t>Scope: fictional static distances; symmetric paths; length-based construction cost.</a:t>
            </a:r>
          </a:p>
          <a:p>
            <a:pPr>
              <a:spcAft>
                <a:spcPts val="1200"/>
              </a:spcAft>
              <a:defRPr sz="1500" b="0">
                <a:solidFill>
                  <a:srgbClr val="91A4BC"/>
                </a:solidFill>
                <a:latin typeface="Aptos"/>
              </a:defRPr>
            </a:pPr>
            <a:r>
              <a:t>References: Cormen et al., Introduction to Algorithms, 4e (2022); Python and library official docs. Full references in the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